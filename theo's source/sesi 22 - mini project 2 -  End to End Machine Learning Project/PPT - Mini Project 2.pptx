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imes New Roman MT Condensed Italics" charset="1" panose="02030506070405090303"/>
      <p:regular r:id="rId15"/>
    </p:embeddedFont>
    <p:embeddedFont>
      <p:font typeface="Helvetica World" charset="1" panose="020B0500040000020004"/>
      <p:regular r:id="rId16"/>
    </p:embeddedFont>
    <p:embeddedFont>
      <p:font typeface="Helvetica World Bold" charset="1" panose="020B0800040000020004"/>
      <p:regular r:id="rId17"/>
    </p:embeddedFont>
    <p:embeddedFont>
      <p:font typeface="Helvetica World Italics" charset="1" panose="020B0500040000090004"/>
      <p:regular r:id="rId18"/>
    </p:embeddedFont>
    <p:embeddedFont>
      <p:font typeface="Anton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www.kaggle.com/datasets/alitaqishah/ai-workforce-displacement-20202026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81941" y="3455141"/>
            <a:ext cx="13324117" cy="335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4"/>
              </a:lnSpc>
            </a:pPr>
            <a:r>
              <a:rPr lang="en-US" sz="12044" i="true" spc="-722">
                <a:solidFill>
                  <a:srgbClr val="00000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Glob</a:t>
            </a:r>
            <a:r>
              <a:rPr lang="en-US" sz="12044" i="true" spc="-722">
                <a:solidFill>
                  <a:srgbClr val="00000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al AI Layoffs</a:t>
            </a:r>
          </a:p>
          <a:p>
            <a:pPr algn="ctr">
              <a:lnSpc>
                <a:spcPts val="1204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672600" y="9027250"/>
            <a:ext cx="4942800" cy="53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2"/>
              </a:lnSpc>
            </a:pPr>
            <a:r>
              <a:rPr lang="en-US" sz="4062" spc="-24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Xavier Theofilus Munthe</a:t>
            </a:r>
          </a:p>
        </p:txBody>
      </p:sp>
      <p:sp>
        <p:nvSpPr>
          <p:cNvPr name="AutoShape 4" id="4"/>
          <p:cNvSpPr/>
          <p:nvPr/>
        </p:nvSpPr>
        <p:spPr>
          <a:xfrm>
            <a:off x="4814481" y="6812809"/>
            <a:ext cx="8693130" cy="0"/>
          </a:xfrm>
          <a:prstGeom prst="line">
            <a:avLst/>
          </a:prstGeom>
          <a:ln cap="rnd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929875" y="4933209"/>
            <a:ext cx="10428250" cy="18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4000" spc="-84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Analisis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9066" y="418330"/>
            <a:ext cx="4126231" cy="1220740"/>
            <a:chOff x="0" y="0"/>
            <a:chExt cx="5501641" cy="1627653"/>
          </a:xfrm>
        </p:grpSpPr>
        <p:sp>
          <p:nvSpPr>
            <p:cNvPr name="AutoShape 3" id="3"/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85725"/>
              <a:ext cx="5501641" cy="10437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Source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938866" y="0"/>
            <a:ext cx="14947736" cy="10192377"/>
          </a:xfrm>
          <a:custGeom>
            <a:avLst/>
            <a:gdLst/>
            <a:ahLst/>
            <a:cxnLst/>
            <a:rect r="r" b="b" t="t" l="l"/>
            <a:pathLst>
              <a:path h="10192377" w="14947736">
                <a:moveTo>
                  <a:pt x="0" y="0"/>
                </a:moveTo>
                <a:lnTo>
                  <a:pt x="14947737" y="0"/>
                </a:lnTo>
                <a:lnTo>
                  <a:pt x="14947737" y="10192377"/>
                </a:lnTo>
                <a:lnTo>
                  <a:pt x="0" y="10192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2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9066" y="1534295"/>
            <a:ext cx="9706864" cy="244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Dataset - AI Workforce Displacement 2020–2026</a:t>
            </a:r>
          </a:p>
          <a:p>
            <a:pPr algn="just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u="sng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  <a:hlinkClick r:id="rId3" tooltip="https://www.kaggle.com/datasets/alitaqishah/ai-workforce-displacement-20202026"/>
              </a:rPr>
              <a:t>https://www.kaggle.com/datasets/prajitdatta/global-ai-and-tech-layoffs-dataset-20202026 </a:t>
            </a:r>
          </a:p>
          <a:p>
            <a:pPr algn="just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80 countries, 10 industry sectors, and 26 quarters (Q1 2020 – Q2 2026).</a:t>
            </a:r>
          </a:p>
          <a:p>
            <a:pPr algn="just">
              <a:lnSpc>
                <a:spcPts val="38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99066" y="3618876"/>
            <a:ext cx="9903331" cy="503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b="true" sz="2400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Background</a:t>
            </a:r>
          </a:p>
          <a:p>
            <a:pPr algn="just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Adopsi</a:t>
            </a:r>
            <a:r>
              <a:rPr lang="en-US" sz="2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AI mengakselerasi perubahan struktural pada pasar tenaga kerja global. Organisasi dan pemerintah membutuhkan kemampuan untuk memprediksi displacement tenaga kerja, agar dapat merancang kebijakan reskilling</a:t>
            </a:r>
            <a:r>
              <a:rPr lang="en-US" sz="2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yang </a:t>
            </a:r>
            <a:r>
              <a:rPr lang="en-US" sz="2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pat</a:t>
            </a:r>
            <a:r>
              <a:rPr lang="en-US" sz="2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</a:t>
            </a:r>
            <a:r>
              <a:rPr lang="en-US" sz="2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aran</a:t>
            </a:r>
            <a:r>
              <a:rPr lang="en-US" sz="2400" i="true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.</a:t>
            </a:r>
          </a:p>
          <a:p>
            <a:pPr algn="just">
              <a:lnSpc>
                <a:spcPts val="2400"/>
              </a:lnSpc>
              <a:spcBef>
                <a:spcPct val="0"/>
              </a:spcBef>
            </a:pPr>
          </a:p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b="true" sz="2400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Statement</a:t>
            </a:r>
          </a:p>
          <a:p>
            <a:pPr algn="just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Seberapa besar persentase tenaga kerja pada suatu sektor dan negara yang akan terdampak displacement AI pada kuartal tertentu, mengingat karakteristik adopsi teknologi, kondisi ekonomi, dan kebijakan pemerintah?</a:t>
            </a:r>
          </a:p>
          <a:p>
            <a:pPr algn="just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b="true" sz="2400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Objective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Membangun dan membandingkan tiga model regression (XGBoost, LightGBM, Random Forest) untuk memprediksi sektor dengan persentase di layoff paling tinggi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179" y="3211814"/>
            <a:ext cx="5558057" cy="1931686"/>
            <a:chOff x="0" y="0"/>
            <a:chExt cx="7410742" cy="2575581"/>
          </a:xfrm>
        </p:grpSpPr>
        <p:sp>
          <p:nvSpPr>
            <p:cNvPr name="AutoShape 3" id="3"/>
            <p:cNvSpPr/>
            <p:nvPr/>
          </p:nvSpPr>
          <p:spPr>
            <a:xfrm>
              <a:off x="0" y="2550181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-133350"/>
              <a:ext cx="7410742" cy="1270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52"/>
                </a:lnSpc>
              </a:pPr>
              <a:r>
                <a:rPr lang="en-US" sz="5600" spc="5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Preview Dataset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357360" y="0"/>
            <a:ext cx="8930640" cy="10287000"/>
          </a:xfrm>
          <a:custGeom>
            <a:avLst/>
            <a:gdLst/>
            <a:ahLst/>
            <a:cxnLst/>
            <a:rect r="r" b="b" t="t" l="l"/>
            <a:pathLst>
              <a:path h="10287000" w="8930640">
                <a:moveTo>
                  <a:pt x="0" y="0"/>
                </a:moveTo>
                <a:lnTo>
                  <a:pt x="8930640" y="0"/>
                </a:lnTo>
                <a:lnTo>
                  <a:pt x="893064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7179" y="4501515"/>
            <a:ext cx="8449477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400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Shape: (20800, 23) </a:t>
            </a:r>
          </a:p>
          <a:p>
            <a:pPr algn="just">
              <a:lnSpc>
                <a:spcPts val="24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54430" y="2459596"/>
            <a:ext cx="2333297" cy="0"/>
          </a:xfrm>
          <a:prstGeom prst="line">
            <a:avLst/>
          </a:prstGeom>
          <a:ln cap="rnd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821078" y="2459596"/>
            <a:ext cx="15453457" cy="5852997"/>
          </a:xfrm>
          <a:custGeom>
            <a:avLst/>
            <a:gdLst/>
            <a:ahLst/>
            <a:cxnLst/>
            <a:rect r="r" b="b" t="t" l="l"/>
            <a:pathLst>
              <a:path h="5852997" w="15453457">
                <a:moveTo>
                  <a:pt x="0" y="0"/>
                </a:moveTo>
                <a:lnTo>
                  <a:pt x="15453458" y="0"/>
                </a:lnTo>
                <a:lnTo>
                  <a:pt x="15453458" y="5852996"/>
                </a:lnTo>
                <a:lnTo>
                  <a:pt x="0" y="585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41550" y="9443387"/>
            <a:ext cx="11230223" cy="558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2100" spc="-84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</a:t>
            </a:r>
            <a:r>
              <a:rPr lang="en-US" sz="2100" spc="-84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 naik konsisten dari 0.0241 (Q1 2020) ke 0.0913 (Q2 2026)</a:t>
            </a:r>
          </a:p>
          <a:p>
            <a:pPr algn="r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13545" y="43421"/>
            <a:ext cx="2615067" cy="239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0"/>
              </a:lnSpc>
            </a:pPr>
            <a:r>
              <a:rPr lang="en-US" sz="14000" spc="-448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EDA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54430" y="2459596"/>
            <a:ext cx="2333297" cy="0"/>
          </a:xfrm>
          <a:prstGeom prst="line">
            <a:avLst/>
          </a:prstGeom>
          <a:ln cap="rnd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640301"/>
            <a:ext cx="16230600" cy="5721286"/>
          </a:xfrm>
          <a:custGeom>
            <a:avLst/>
            <a:gdLst/>
            <a:ahLst/>
            <a:cxnLst/>
            <a:rect r="r" b="b" t="t" l="l"/>
            <a:pathLst>
              <a:path h="5721286" w="16230600">
                <a:moveTo>
                  <a:pt x="0" y="0"/>
                </a:moveTo>
                <a:lnTo>
                  <a:pt x="16230600" y="0"/>
                </a:lnTo>
                <a:lnTo>
                  <a:pt x="16230600" y="5721287"/>
                </a:lnTo>
                <a:lnTo>
                  <a:pt x="0" y="5721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29077" y="8670654"/>
            <a:ext cx="11230223" cy="291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2100" spc="-84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rata rata layoff berdasarkan kategori sektor, dan negara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3545" y="43421"/>
            <a:ext cx="2615067" cy="239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0"/>
              </a:lnSpc>
            </a:pPr>
            <a:r>
              <a:rPr lang="en-US" sz="14000" spc="-448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EDA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25472" y="1733550"/>
            <a:ext cx="2333297" cy="0"/>
          </a:xfrm>
          <a:prstGeom prst="line">
            <a:avLst/>
          </a:prstGeom>
          <a:ln cap="rnd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25472" y="2156660"/>
            <a:ext cx="17463395" cy="6046701"/>
          </a:xfrm>
          <a:custGeom>
            <a:avLst/>
            <a:gdLst/>
            <a:ahLst/>
            <a:cxnLst/>
            <a:rect r="r" b="b" t="t" l="l"/>
            <a:pathLst>
              <a:path h="6046701" w="17463395">
                <a:moveTo>
                  <a:pt x="0" y="0"/>
                </a:moveTo>
                <a:lnTo>
                  <a:pt x="17463395" y="0"/>
                </a:lnTo>
                <a:lnTo>
                  <a:pt x="17463395" y="6046700"/>
                </a:lnTo>
                <a:lnTo>
                  <a:pt x="0" y="604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29077" y="8670654"/>
            <a:ext cx="11230223" cy="291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2100" spc="-84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terbaik: XGBoost dengan mean: 0.00928 (mendekati 0 = prediksi tidak bias secara sistematis)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462005" y="450850"/>
            <a:ext cx="1835591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spc="-16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Perbandingan antar model: XGBoost vs LightGBM vs RF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25472" y="1733550"/>
            <a:ext cx="2333297" cy="0"/>
          </a:xfrm>
          <a:prstGeom prst="line">
            <a:avLst/>
          </a:prstGeom>
          <a:ln cap="rnd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74345" y="2124075"/>
            <a:ext cx="16645074" cy="6325128"/>
          </a:xfrm>
          <a:custGeom>
            <a:avLst/>
            <a:gdLst/>
            <a:ahLst/>
            <a:cxnLst/>
            <a:rect r="r" b="b" t="t" l="l"/>
            <a:pathLst>
              <a:path h="6325128" w="16645074">
                <a:moveTo>
                  <a:pt x="0" y="0"/>
                </a:moveTo>
                <a:lnTo>
                  <a:pt x="16645074" y="0"/>
                </a:lnTo>
                <a:lnTo>
                  <a:pt x="16645074" y="6325128"/>
                </a:lnTo>
                <a:lnTo>
                  <a:pt x="0" y="63251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29077" y="8670654"/>
            <a:ext cx="11230223" cy="291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2100" spc="-84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terbaik: XGBoost dengan mean: 0.00928 (mendekati 0 = prediksi tidak bias secara sistematis)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862681" y="161836"/>
            <a:ext cx="18355912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spc="-22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XGBoost: Aktual vs Prediksi (n=1500)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25472" y="1362075"/>
            <a:ext cx="2333297" cy="0"/>
          </a:xfrm>
          <a:prstGeom prst="line">
            <a:avLst/>
          </a:prstGeom>
          <a:ln cap="rnd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683051" y="412866"/>
            <a:ext cx="8896926" cy="4080821"/>
          </a:xfrm>
          <a:custGeom>
            <a:avLst/>
            <a:gdLst/>
            <a:ahLst/>
            <a:cxnLst/>
            <a:rect r="r" b="b" t="t" l="l"/>
            <a:pathLst>
              <a:path h="4080821" w="8896926">
                <a:moveTo>
                  <a:pt x="0" y="0"/>
                </a:moveTo>
                <a:lnTo>
                  <a:pt x="8896926" y="0"/>
                </a:lnTo>
                <a:lnTo>
                  <a:pt x="8896926" y="4080822"/>
                </a:lnTo>
                <a:lnTo>
                  <a:pt x="0" y="4080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4029" y="4703778"/>
            <a:ext cx="12141242" cy="5038616"/>
          </a:xfrm>
          <a:custGeom>
            <a:avLst/>
            <a:gdLst/>
            <a:ahLst/>
            <a:cxnLst/>
            <a:rect r="r" b="b" t="t" l="l"/>
            <a:pathLst>
              <a:path h="5038616" w="12141242">
                <a:moveTo>
                  <a:pt x="0" y="0"/>
                </a:moveTo>
                <a:lnTo>
                  <a:pt x="12141242" y="0"/>
                </a:lnTo>
                <a:lnTo>
                  <a:pt x="12141242" y="5038616"/>
                </a:lnTo>
                <a:lnTo>
                  <a:pt x="0" y="503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5472" y="1801922"/>
            <a:ext cx="7910335" cy="269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spc="-84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metodologi proyeksi:</a:t>
            </a:r>
          </a:p>
          <a:p>
            <a:pPr algn="l">
              <a:lnSpc>
                <a:spcPts val="2100"/>
              </a:lnSpc>
            </a:pPr>
            <a:r>
              <a:rPr lang="en-US" sz="2100" spc="-84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 baseline: data aktual Q2 2026 yang tersedia dalam dataset</a:t>
            </a:r>
          </a:p>
          <a:p>
            <a:pPr algn="l">
              <a:lnSpc>
                <a:spcPts val="2100"/>
              </a:lnSpc>
            </a:pPr>
            <a:r>
              <a:rPr lang="en-US" sz="2100" spc="-84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 growth factor dihitung dari pola historis pergerakan fitur Q2 ke Q4 selama 2020-2025</a:t>
            </a:r>
          </a:p>
          <a:p>
            <a:pPr algn="l">
              <a:lnSpc>
                <a:spcPts val="2100"/>
              </a:lnSpc>
            </a:pPr>
            <a:r>
              <a:rPr lang="en-US" sz="2100" spc="-84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 growth factor di-clip pada range 0.8-1.3 untuk mencegah ekstrapolasi ekstrem</a:t>
            </a:r>
          </a:p>
          <a:p>
            <a:pPr algn="l">
              <a:lnSpc>
                <a:spcPts val="2100"/>
              </a:lnSpc>
            </a:pPr>
            <a:r>
              <a:rPr lang="en-US" sz="2100" spc="-84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 preprocessing mengikuti pipeline yang sama dengan training (RobustScaler fit on train)</a:t>
            </a:r>
          </a:p>
          <a:p>
            <a:pPr algn="l">
              <a:lnSpc>
                <a:spcPts val="2100"/>
              </a:lnSpc>
            </a:pPr>
            <a:r>
              <a:rPr lang="en-US" sz="2100" spc="-84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 prediksi final menggunakan ensemble rata-rata ketiga model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58750"/>
            <a:ext cx="6401843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spc="-22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Prediksi Q4 2026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5477" y="238782"/>
            <a:ext cx="8115300" cy="217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1"/>
              </a:lnSpc>
            </a:pPr>
            <a:r>
              <a:rPr lang="en-US" sz="14201" i="true" spc="-852">
                <a:solidFill>
                  <a:srgbClr val="00000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conclution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3325128" y="2043611"/>
            <a:ext cx="1607323" cy="0"/>
          </a:xfrm>
          <a:prstGeom prst="line">
            <a:avLst/>
          </a:prstGeom>
          <a:ln cap="rnd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07436" y="2632073"/>
            <a:ext cx="17680564" cy="3865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304" indent="-334652" lvl="1">
              <a:lnSpc>
                <a:spcPts val="3100"/>
              </a:lnSpc>
              <a:buFont typeface="Arial"/>
              <a:buChar char="•"/>
            </a:pPr>
            <a:r>
              <a:rPr lang="en-US" b="true" sz="3100" spc="-186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Ketiga mode</a:t>
            </a:r>
            <a:r>
              <a:rPr lang="en-US" b="true" sz="3100" spc="-186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 dilatih dengan temporal split sehingga tidak terjadi future data leakage. XGBoost meraih performa terbaik dengan R2 test 0.8945, R2 adjusted 0.8940, MAE 0.01173, RMSE 0.01734, dan MAPE 13.05%. CV R2 mean ketiga model berada di kisaran 0.935-0.941 dengan standar deviasi rendah, menunjukkan generalisasi yang stabil.</a:t>
            </a:r>
          </a:p>
          <a:p>
            <a:pPr algn="l">
              <a:lnSpc>
                <a:spcPts val="3100"/>
              </a:lnSpc>
            </a:pPr>
          </a:p>
          <a:p>
            <a:pPr algn="l" marL="669304" indent="-334652" lvl="1">
              <a:lnSpc>
                <a:spcPts val="3100"/>
              </a:lnSpc>
              <a:buFont typeface="Arial"/>
              <a:buChar char="•"/>
            </a:pPr>
            <a:r>
              <a:rPr lang="en-US" b="true" sz="3100" spc="-186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Gap R2 da</a:t>
            </a:r>
            <a:r>
              <a:rPr lang="en-US" b="true" sz="3100" spc="-186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ri train ke test (0.98 ke 0.89) mencerminkan distribusi shift antara per</a:t>
            </a:r>
            <a:r>
              <a:rPr lang="en-US" b="true" sz="3100" spc="-186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iode 2020-2024 </a:t>
            </a:r>
            <a:r>
              <a:rPr lang="en-US" b="true" sz="3100" spc="-186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dan 2025-2026, yang wajar karena adopsi AI semakin masif. Random Forest menunjukkan overfitting lebih tinggi (R2_train=0.9992) dibandingkan model gradient boosting.</a:t>
            </a:r>
          </a:p>
          <a:p>
            <a:pPr algn="l">
              <a:lnSpc>
                <a:spcPts val="31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55283" y="6135665"/>
            <a:ext cx="8115300" cy="217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1"/>
              </a:lnSpc>
            </a:pPr>
            <a:r>
              <a:rPr lang="en-US" sz="14201" i="true" spc="-852">
                <a:solidFill>
                  <a:srgbClr val="00000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rekomendasi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5283" y="7853997"/>
            <a:ext cx="15390987" cy="285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304" indent="-334652" lvl="1">
              <a:lnSpc>
                <a:spcPts val="3100"/>
              </a:lnSpc>
              <a:buFont typeface="Arial"/>
              <a:buChar char="•"/>
            </a:pPr>
            <a:r>
              <a:rPr lang="en-US" b="true" sz="3100" spc="-186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Pemerintah perlu memprioritaskan program reskilling di sektor Administrative/Clerical dan Manufacturing yang diprediksi paling terdampak pada Q4 2026</a:t>
            </a:r>
          </a:p>
          <a:p>
            <a:pPr algn="l">
              <a:lnSpc>
                <a:spcPts val="3100"/>
              </a:lnSpc>
            </a:pPr>
          </a:p>
          <a:p>
            <a:pPr algn="l">
              <a:lnSpc>
                <a:spcPts val="3100"/>
              </a:lnSpc>
            </a:pPr>
          </a:p>
          <a:p>
            <a:pPr algn="l">
              <a:lnSpc>
                <a:spcPts val="3100"/>
              </a:lnSpc>
            </a:pPr>
          </a:p>
          <a:p>
            <a:pPr algn="l">
              <a:lnSpc>
                <a:spcPts val="3100"/>
              </a:lnSpc>
            </a:pPr>
          </a:p>
          <a:p>
            <a:pPr algn="l">
              <a:lnSpc>
                <a:spcPts val="31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DAHJbiKulzM</dc:identifier>
  <dcterms:modified xsi:type="dcterms:W3CDTF">2011-08-01T06:04:30Z</dcterms:modified>
  <cp:revision>1</cp:revision>
  <dc:title>PPT - Mini Project 2</dc:title>
</cp:coreProperties>
</file>