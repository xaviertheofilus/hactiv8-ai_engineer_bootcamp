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MT Condensed Italics" charset="1" panose="02030506070405090303"/>
      <p:regular r:id="rId19"/>
    </p:embeddedFont>
    <p:embeddedFont>
      <p:font typeface="Helvetica World" charset="1" panose="020B0500040000020004"/>
      <p:regular r:id="rId20"/>
    </p:embeddedFont>
    <p:embeddedFont>
      <p:font typeface="Helvetica World Bold" charset="1" panose="020B0800040000020004"/>
      <p:regular r:id="rId21"/>
    </p:embeddedFont>
    <p:embeddedFont>
      <p:font typeface="League Spartan" charset="1" panose="000008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BEAE8"/>
        </a:solidFill>
      </p:bgPr>
    </p:bg>
    <p:spTree>
      <p:nvGrpSpPr>
        <p:cNvPr id="1" name=""/>
        <p:cNvGrpSpPr/>
        <p:nvPr/>
      </p:nvGrpSpPr>
      <p:grpSpPr>
        <a:xfrm>
          <a:off x="0" y="0"/>
          <a:ext cx="0" cy="0"/>
          <a:chOff x="0" y="0"/>
          <a:chExt cx="0" cy="0"/>
        </a:xfrm>
      </p:grpSpPr>
      <p:sp>
        <p:nvSpPr>
          <p:cNvPr name="TextBox 2" id="2"/>
          <p:cNvSpPr txBox="true"/>
          <p:nvPr/>
        </p:nvSpPr>
        <p:spPr>
          <a:xfrm rot="0">
            <a:off x="3792613" y="3322972"/>
            <a:ext cx="10702774" cy="3357668"/>
          </a:xfrm>
          <a:prstGeom prst="rect">
            <a:avLst/>
          </a:prstGeom>
        </p:spPr>
        <p:txBody>
          <a:bodyPr anchor="t" rtlCol="false" tIns="0" lIns="0" bIns="0" rIns="0">
            <a:spAutoFit/>
          </a:bodyPr>
          <a:lstStyle/>
          <a:p>
            <a:pPr algn="ctr">
              <a:lnSpc>
                <a:spcPts val="12044"/>
              </a:lnSpc>
            </a:pPr>
            <a:r>
              <a:rPr lang="en-US" sz="12044" i="true" spc="-722">
                <a:solidFill>
                  <a:srgbClr val="000000"/>
                </a:solidFill>
                <a:latin typeface="Times New Roman MT Condensed Italics"/>
                <a:ea typeface="Times New Roman MT Condensed Italics"/>
                <a:cs typeface="Times New Roman MT Condensed Italics"/>
                <a:sym typeface="Times New Roman MT Condensed Italics"/>
              </a:rPr>
              <a:t>Diab</a:t>
            </a:r>
            <a:r>
              <a:rPr lang="en-US" sz="12044" i="true" spc="-722">
                <a:solidFill>
                  <a:srgbClr val="000000"/>
                </a:solidFill>
                <a:latin typeface="Times New Roman MT Condensed Italics"/>
                <a:ea typeface="Times New Roman MT Condensed Italics"/>
                <a:cs typeface="Times New Roman MT Condensed Italics"/>
                <a:sym typeface="Times New Roman MT Condensed Italics"/>
              </a:rPr>
              <a:t>etes Data Analisis- </a:t>
            </a:r>
          </a:p>
          <a:p>
            <a:pPr algn="ctr">
              <a:lnSpc>
                <a:spcPts val="12044"/>
              </a:lnSpc>
            </a:pPr>
          </a:p>
        </p:txBody>
      </p:sp>
      <p:sp>
        <p:nvSpPr>
          <p:cNvPr name="TextBox 3" id="3"/>
          <p:cNvSpPr txBox="true"/>
          <p:nvPr/>
        </p:nvSpPr>
        <p:spPr>
          <a:xfrm rot="0">
            <a:off x="6672600" y="9027250"/>
            <a:ext cx="4942800" cy="538301"/>
          </a:xfrm>
          <a:prstGeom prst="rect">
            <a:avLst/>
          </a:prstGeom>
        </p:spPr>
        <p:txBody>
          <a:bodyPr anchor="t" rtlCol="false" tIns="0" lIns="0" bIns="0" rIns="0">
            <a:spAutoFit/>
          </a:bodyPr>
          <a:lstStyle/>
          <a:p>
            <a:pPr algn="ctr">
              <a:lnSpc>
                <a:spcPts val="4062"/>
              </a:lnSpc>
            </a:pPr>
            <a:r>
              <a:rPr lang="en-US" sz="4062" spc="-243">
                <a:solidFill>
                  <a:srgbClr val="000000"/>
                </a:solidFill>
                <a:latin typeface="Helvetica World"/>
                <a:ea typeface="Helvetica World"/>
                <a:cs typeface="Helvetica World"/>
                <a:sym typeface="Helvetica World"/>
              </a:rPr>
              <a:t>Xavier Theofilus Munthe</a:t>
            </a:r>
          </a:p>
        </p:txBody>
      </p:sp>
      <p:sp>
        <p:nvSpPr>
          <p:cNvPr name="AutoShape 4" id="4"/>
          <p:cNvSpPr/>
          <p:nvPr/>
        </p:nvSpPr>
        <p:spPr>
          <a:xfrm>
            <a:off x="4814481" y="6812809"/>
            <a:ext cx="8693130" cy="0"/>
          </a:xfrm>
          <a:prstGeom prst="line">
            <a:avLst/>
          </a:prstGeom>
          <a:ln cap="rnd" w="38100">
            <a:solidFill>
              <a:srgbClr val="C07A35"/>
            </a:solidFill>
            <a:prstDash val="solid"/>
            <a:headEnd type="none" len="sm" w="sm"/>
            <a:tailEnd type="none" len="sm" w="sm"/>
          </a:ln>
        </p:spPr>
      </p:sp>
      <p:sp>
        <p:nvSpPr>
          <p:cNvPr name="TextBox 5" id="5"/>
          <p:cNvSpPr txBox="true"/>
          <p:nvPr/>
        </p:nvSpPr>
        <p:spPr>
          <a:xfrm rot="0">
            <a:off x="3929875" y="4933209"/>
            <a:ext cx="10428250" cy="1879601"/>
          </a:xfrm>
          <a:prstGeom prst="rect">
            <a:avLst/>
          </a:prstGeom>
        </p:spPr>
        <p:txBody>
          <a:bodyPr anchor="t" rtlCol="false" tIns="0" lIns="0" bIns="0" rIns="0">
            <a:spAutoFit/>
          </a:bodyPr>
          <a:lstStyle/>
          <a:p>
            <a:pPr algn="ctr">
              <a:lnSpc>
                <a:spcPts val="14000"/>
              </a:lnSpc>
            </a:pPr>
            <a:r>
              <a:rPr lang="en-US" sz="14000" spc="-840">
                <a:solidFill>
                  <a:srgbClr val="000000"/>
                </a:solidFill>
                <a:latin typeface="Helvetica World"/>
                <a:ea typeface="Helvetica World"/>
                <a:cs typeface="Helvetica World"/>
                <a:sym typeface="Helvetica World"/>
              </a:rPr>
              <a:t>Pima Indians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grpSp>
        <p:nvGrpSpPr>
          <p:cNvPr name="Group 2" id="2"/>
          <p:cNvGrpSpPr/>
          <p:nvPr/>
        </p:nvGrpSpPr>
        <p:grpSpPr>
          <a:xfrm rot="0">
            <a:off x="399066" y="418330"/>
            <a:ext cx="4126231" cy="1220740"/>
            <a:chOff x="0" y="0"/>
            <a:chExt cx="5501641" cy="1627653"/>
          </a:xfrm>
        </p:grpSpPr>
        <p:sp>
          <p:nvSpPr>
            <p:cNvPr name="AutoShape 3" id="3"/>
            <p:cNvSpPr/>
            <p:nvPr/>
          </p:nvSpPr>
          <p:spPr>
            <a:xfrm>
              <a:off x="0" y="1602253"/>
              <a:ext cx="1056177" cy="0"/>
            </a:xfrm>
            <a:prstGeom prst="line">
              <a:avLst/>
            </a:prstGeom>
            <a:ln cap="rnd" w="50800">
              <a:solidFill>
                <a:srgbClr val="C07A35"/>
              </a:solidFill>
              <a:prstDash val="solid"/>
              <a:headEnd type="none" len="sm" w="sm"/>
              <a:tailEnd type="none" len="sm" w="sm"/>
            </a:ln>
          </p:spPr>
        </p:sp>
        <p:sp>
          <p:nvSpPr>
            <p:cNvPr name="TextBox 4" id="4"/>
            <p:cNvSpPr txBox="true"/>
            <p:nvPr/>
          </p:nvSpPr>
          <p:spPr>
            <a:xfrm rot="0">
              <a:off x="0" y="85725"/>
              <a:ext cx="5501641" cy="1043728"/>
            </a:xfrm>
            <a:prstGeom prst="rect">
              <a:avLst/>
            </a:prstGeom>
          </p:spPr>
          <p:txBody>
            <a:bodyPr anchor="t" rtlCol="false" tIns="0" lIns="0" bIns="0" rIns="0">
              <a:spAutoFit/>
            </a:bodyPr>
            <a:lstStyle/>
            <a:p>
              <a:pPr algn="l">
                <a:lnSpc>
                  <a:spcPts val="5600"/>
                </a:lnSpc>
              </a:pPr>
              <a:r>
                <a:rPr lang="en-US" sz="5600" spc="-336">
                  <a:solidFill>
                    <a:srgbClr val="000000"/>
                  </a:solidFill>
                  <a:latin typeface="Helvetica World"/>
                  <a:ea typeface="Helvetica World"/>
                  <a:cs typeface="Helvetica World"/>
                  <a:sym typeface="Helvetica World"/>
                </a:rPr>
                <a:t>Source</a:t>
              </a:r>
            </a:p>
          </p:txBody>
        </p:sp>
      </p:grpSp>
      <p:sp>
        <p:nvSpPr>
          <p:cNvPr name="TextBox 5" id="5"/>
          <p:cNvSpPr txBox="true"/>
          <p:nvPr/>
        </p:nvSpPr>
        <p:spPr>
          <a:xfrm rot="0">
            <a:off x="399066" y="1760220"/>
            <a:ext cx="11403027" cy="2411730"/>
          </a:xfrm>
          <a:prstGeom prst="rect">
            <a:avLst/>
          </a:prstGeom>
        </p:spPr>
        <p:txBody>
          <a:bodyPr anchor="t" rtlCol="false" tIns="0" lIns="0" bIns="0" rIns="0">
            <a:spAutoFit/>
          </a:bodyPr>
          <a:lstStyle/>
          <a:p>
            <a:pPr algn="l" marL="518160" indent="-259080" lvl="1">
              <a:lnSpc>
                <a:spcPts val="3840"/>
              </a:lnSpc>
              <a:buFont typeface="Arial"/>
              <a:buChar char="•"/>
            </a:pPr>
            <a:r>
              <a:rPr lang="en-US" sz="2400" spc="-48">
                <a:solidFill>
                  <a:srgbClr val="000000"/>
                </a:solidFill>
                <a:latin typeface="Helvetica World"/>
                <a:ea typeface="Helvetica World"/>
                <a:cs typeface="Helvetica World"/>
                <a:sym typeface="Helvetica World"/>
              </a:rPr>
              <a:t>Dataset Kaggle -  National Institute of Diabetes and Digestive and Kidney Diseases (NIDDK) - 1988 </a:t>
            </a:r>
          </a:p>
          <a:p>
            <a:pPr algn="l" marL="518160" indent="-259080" lvl="1">
              <a:lnSpc>
                <a:spcPts val="3840"/>
              </a:lnSpc>
              <a:buFont typeface="Arial"/>
              <a:buChar char="•"/>
            </a:pPr>
            <a:r>
              <a:rPr lang="en-US" sz="2400" spc="-48">
                <a:solidFill>
                  <a:srgbClr val="000000"/>
                </a:solidFill>
                <a:latin typeface="Helvetica World"/>
                <a:ea typeface="Helvetica World"/>
                <a:cs typeface="Helvetica World"/>
                <a:sym typeface="Helvetica World"/>
              </a:rPr>
              <a:t>P</a:t>
            </a:r>
            <a:r>
              <a:rPr lang="en-US" sz="2400" spc="-48">
                <a:solidFill>
                  <a:srgbClr val="000000"/>
                </a:solidFill>
                <a:latin typeface="Helvetica World"/>
                <a:ea typeface="Helvetica World"/>
                <a:cs typeface="Helvetica World"/>
                <a:sym typeface="Helvetica World"/>
              </a:rPr>
              <a:t>opulasi - Wanita keturunan Pima Indian berusia minimal 21 tahun. (Phoenix, Arizona, Amerika Serikat.)</a:t>
            </a:r>
          </a:p>
          <a:p>
            <a:pPr algn="l" marL="518160" indent="-259080" lvl="1">
              <a:lnSpc>
                <a:spcPts val="3840"/>
              </a:lnSpc>
              <a:buFont typeface="Arial"/>
              <a:buChar char="•"/>
            </a:pPr>
            <a:r>
              <a:rPr lang="en-US" sz="2400" spc="-48">
                <a:solidFill>
                  <a:srgbClr val="000000"/>
                </a:solidFill>
                <a:latin typeface="Helvetica World"/>
                <a:ea typeface="Helvetica World"/>
                <a:cs typeface="Helvetica World"/>
                <a:sym typeface="Helvetica World"/>
              </a:rPr>
              <a:t>Dataset - 768 pasien </a:t>
            </a:r>
          </a:p>
        </p:txBody>
      </p:sp>
      <p:sp>
        <p:nvSpPr>
          <p:cNvPr name="Freeform 6" id="6"/>
          <p:cNvSpPr/>
          <p:nvPr/>
        </p:nvSpPr>
        <p:spPr>
          <a:xfrm flipH="false" flipV="false" rot="0">
            <a:off x="13373805" y="0"/>
            <a:ext cx="4914195" cy="10699362"/>
          </a:xfrm>
          <a:custGeom>
            <a:avLst/>
            <a:gdLst/>
            <a:ahLst/>
            <a:cxnLst/>
            <a:rect r="r" b="b" t="t" l="l"/>
            <a:pathLst>
              <a:path h="10699362" w="4914195">
                <a:moveTo>
                  <a:pt x="0" y="0"/>
                </a:moveTo>
                <a:lnTo>
                  <a:pt x="4914195" y="0"/>
                </a:lnTo>
                <a:lnTo>
                  <a:pt x="4914195" y="10699362"/>
                </a:lnTo>
                <a:lnTo>
                  <a:pt x="0" y="10699362"/>
                </a:lnTo>
                <a:lnTo>
                  <a:pt x="0" y="0"/>
                </a:lnTo>
                <a:close/>
              </a:path>
            </a:pathLst>
          </a:custGeom>
          <a:blipFill>
            <a:blip r:embed="rId2"/>
            <a:stretch>
              <a:fillRect l="-143889" t="-6159" r="-68131" b="-6159"/>
            </a:stretch>
          </a:blipFill>
        </p:spPr>
      </p:sp>
      <p:sp>
        <p:nvSpPr>
          <p:cNvPr name="TextBox 7" id="7"/>
          <p:cNvSpPr txBox="true"/>
          <p:nvPr/>
        </p:nvSpPr>
        <p:spPr>
          <a:xfrm rot="0">
            <a:off x="629634" y="4905373"/>
            <a:ext cx="12106141" cy="3980795"/>
          </a:xfrm>
          <a:prstGeom prst="rect">
            <a:avLst/>
          </a:prstGeom>
        </p:spPr>
        <p:txBody>
          <a:bodyPr anchor="t" rtlCol="false" tIns="0" lIns="0" bIns="0" rIns="0">
            <a:spAutoFit/>
          </a:bodyPr>
          <a:lstStyle/>
          <a:p>
            <a:pPr algn="l">
              <a:lnSpc>
                <a:spcPts val="2599"/>
              </a:lnSpc>
              <a:spcBef>
                <a:spcPct val="0"/>
              </a:spcBef>
            </a:pPr>
            <a:r>
              <a:rPr lang="en-US" b="true" sz="2599">
                <a:solidFill>
                  <a:srgbClr val="C07A35"/>
                </a:solidFill>
                <a:latin typeface="Helvetica World Bold"/>
                <a:ea typeface="Helvetica World Bold"/>
                <a:cs typeface="Helvetica World Bold"/>
                <a:sym typeface="Helvetica World Bold"/>
              </a:rPr>
              <a:t>Background</a:t>
            </a:r>
          </a:p>
          <a:p>
            <a:pPr algn="l">
              <a:lnSpc>
                <a:spcPts val="2599"/>
              </a:lnSpc>
              <a:spcBef>
                <a:spcPct val="0"/>
              </a:spcBef>
            </a:pPr>
          </a:p>
          <a:p>
            <a:pPr algn="l">
              <a:lnSpc>
                <a:spcPts val="2599"/>
              </a:lnSpc>
              <a:spcBef>
                <a:spcPct val="0"/>
              </a:spcBef>
            </a:pPr>
            <a:r>
              <a:rPr lang="en-US" sz="2599">
                <a:solidFill>
                  <a:srgbClr val="000000"/>
                </a:solidFill>
                <a:latin typeface="Helvetica World"/>
                <a:ea typeface="Helvetica World"/>
                <a:cs typeface="Helvetica World"/>
                <a:sym typeface="Helvetica World"/>
              </a:rPr>
              <a:t>Diabetes mellitus adalah penyakit metabolik kronis yang ditandai dengan kadar glukosa darah tinggi. Deteksi dini sangat penting untuk mencegah komplikasi serius seperti gagal ginjal dan penyakit jantung. Dataset ini mencatat kondisi klinis 768 wanita keturunan Pima Indian berusia minimal 21 tahun, sebuah populasi yang dikenal memiliki prevalensi diabetes tipe 2 jauh di atas rata-rata.</a:t>
            </a:r>
          </a:p>
          <a:p>
            <a:pPr algn="l">
              <a:lnSpc>
                <a:spcPts val="2599"/>
              </a:lnSpc>
              <a:spcBef>
                <a:spcPct val="0"/>
              </a:spcBef>
            </a:pPr>
          </a:p>
          <a:p>
            <a:pPr algn="l">
              <a:lnSpc>
                <a:spcPts val="2599"/>
              </a:lnSpc>
              <a:spcBef>
                <a:spcPct val="0"/>
              </a:spcBef>
            </a:pPr>
            <a:r>
              <a:rPr lang="en-US" b="true" sz="2599">
                <a:solidFill>
                  <a:srgbClr val="C07A35"/>
                </a:solidFill>
                <a:latin typeface="Helvetica World Bold"/>
                <a:ea typeface="Helvetica World Bold"/>
                <a:cs typeface="Helvetica World Bold"/>
                <a:sym typeface="Helvetica World Bold"/>
              </a:rPr>
              <a:t>Problem Statement</a:t>
            </a:r>
          </a:p>
          <a:p>
            <a:pPr algn="l">
              <a:lnSpc>
                <a:spcPts val="2599"/>
              </a:lnSpc>
              <a:spcBef>
                <a:spcPct val="0"/>
              </a:spcBef>
            </a:pPr>
          </a:p>
          <a:p>
            <a:pPr algn="l">
              <a:lnSpc>
                <a:spcPts val="2599"/>
              </a:lnSpc>
              <a:spcBef>
                <a:spcPct val="0"/>
              </a:spcBef>
            </a:pPr>
            <a:r>
              <a:rPr lang="en-US" sz="2599">
                <a:solidFill>
                  <a:srgbClr val="000000"/>
                </a:solidFill>
                <a:latin typeface="Helvetica World"/>
                <a:ea typeface="Helvetica World"/>
                <a:cs typeface="Helvetica World"/>
                <a:sym typeface="Helvetica World"/>
              </a:rPr>
              <a:t>Faktor klinis apa saja yang paling membedakan pasien diabetes dari yang tidak diabetes pada 768 wanita Pima Indian?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TextBox 2" id="2"/>
          <p:cNvSpPr txBox="true"/>
          <p:nvPr/>
        </p:nvSpPr>
        <p:spPr>
          <a:xfrm rot="0">
            <a:off x="676250" y="645160"/>
            <a:ext cx="6324328" cy="824230"/>
          </a:xfrm>
          <a:prstGeom prst="rect">
            <a:avLst/>
          </a:prstGeom>
        </p:spPr>
        <p:txBody>
          <a:bodyPr anchor="t" rtlCol="false" tIns="0" lIns="0" bIns="0" rIns="0">
            <a:spAutoFit/>
          </a:bodyPr>
          <a:lstStyle/>
          <a:p>
            <a:pPr algn="l">
              <a:lnSpc>
                <a:spcPts val="3200"/>
              </a:lnSpc>
              <a:spcBef>
                <a:spcPct val="0"/>
              </a:spcBef>
            </a:pPr>
            <a:r>
              <a:rPr lang="en-US" sz="3200" spc="-128">
                <a:solidFill>
                  <a:srgbClr val="000000"/>
                </a:solidFill>
                <a:latin typeface="League Spartan"/>
                <a:ea typeface="League Spartan"/>
                <a:cs typeface="League Spartan"/>
                <a:sym typeface="League Spartan"/>
              </a:rPr>
              <a:t>Distribusi Pasien vs Diabetes dan Tidak Diabetes ?</a:t>
            </a:r>
          </a:p>
        </p:txBody>
      </p:sp>
      <p:grpSp>
        <p:nvGrpSpPr>
          <p:cNvPr name="Group 3" id="3"/>
          <p:cNvGrpSpPr/>
          <p:nvPr/>
        </p:nvGrpSpPr>
        <p:grpSpPr>
          <a:xfrm rot="0">
            <a:off x="676250" y="248650"/>
            <a:ext cx="21396257" cy="1220740"/>
            <a:chOff x="0" y="0"/>
            <a:chExt cx="28528342" cy="1627653"/>
          </a:xfrm>
        </p:grpSpPr>
        <p:sp>
          <p:nvSpPr>
            <p:cNvPr name="AutoShape 4" id="4"/>
            <p:cNvSpPr/>
            <p:nvPr/>
          </p:nvSpPr>
          <p:spPr>
            <a:xfrm>
              <a:off x="0" y="1602253"/>
              <a:ext cx="5476725" cy="0"/>
            </a:xfrm>
            <a:prstGeom prst="line">
              <a:avLst/>
            </a:prstGeom>
            <a:ln cap="rnd" w="50800">
              <a:solidFill>
                <a:srgbClr val="C07A35"/>
              </a:solidFill>
              <a:prstDash val="solid"/>
              <a:headEnd type="none" len="sm" w="sm"/>
              <a:tailEnd type="none" len="sm" w="sm"/>
            </a:ln>
          </p:spPr>
        </p:sp>
        <p:sp>
          <p:nvSpPr>
            <p:cNvPr name="TextBox 5" id="5"/>
            <p:cNvSpPr txBox="true"/>
            <p:nvPr/>
          </p:nvSpPr>
          <p:spPr>
            <a:xfrm rot="0">
              <a:off x="0" y="85725"/>
              <a:ext cx="28528342" cy="1043728"/>
            </a:xfrm>
            <a:prstGeom prst="rect">
              <a:avLst/>
            </a:prstGeom>
          </p:spPr>
          <p:txBody>
            <a:bodyPr anchor="t" rtlCol="false" tIns="0" lIns="0" bIns="0" rIns="0">
              <a:spAutoFit/>
            </a:bodyPr>
            <a:lstStyle/>
            <a:p>
              <a:pPr algn="l">
                <a:lnSpc>
                  <a:spcPts val="5600"/>
                </a:lnSpc>
              </a:pPr>
            </a:p>
          </p:txBody>
        </p:sp>
      </p:grpSp>
      <p:sp>
        <p:nvSpPr>
          <p:cNvPr name="Freeform 6" id="6"/>
          <p:cNvSpPr/>
          <p:nvPr/>
        </p:nvSpPr>
        <p:spPr>
          <a:xfrm flipH="false" flipV="false" rot="0">
            <a:off x="3179323" y="2400072"/>
            <a:ext cx="12541384" cy="5486856"/>
          </a:xfrm>
          <a:custGeom>
            <a:avLst/>
            <a:gdLst/>
            <a:ahLst/>
            <a:cxnLst/>
            <a:rect r="r" b="b" t="t" l="l"/>
            <a:pathLst>
              <a:path h="5486856" w="12541384">
                <a:moveTo>
                  <a:pt x="0" y="0"/>
                </a:moveTo>
                <a:lnTo>
                  <a:pt x="12541384" y="0"/>
                </a:lnTo>
                <a:lnTo>
                  <a:pt x="12541384" y="5486856"/>
                </a:lnTo>
                <a:lnTo>
                  <a:pt x="0" y="5486856"/>
                </a:lnTo>
                <a:lnTo>
                  <a:pt x="0" y="0"/>
                </a:lnTo>
                <a:close/>
              </a:path>
            </a:pathLst>
          </a:custGeom>
          <a:blipFill>
            <a:blip r:embed="rId2"/>
            <a:stretch>
              <a:fillRect l="0" t="0" r="0" b="0"/>
            </a:stretch>
          </a:blipFill>
        </p:spPr>
      </p:sp>
      <p:sp>
        <p:nvSpPr>
          <p:cNvPr name="TextBox 7" id="7"/>
          <p:cNvSpPr txBox="true"/>
          <p:nvPr/>
        </p:nvSpPr>
        <p:spPr>
          <a:xfrm rot="0">
            <a:off x="3834904" y="8143729"/>
            <a:ext cx="11230223" cy="558166"/>
          </a:xfrm>
          <a:prstGeom prst="rect">
            <a:avLst/>
          </a:prstGeom>
        </p:spPr>
        <p:txBody>
          <a:bodyPr anchor="t" rtlCol="false" tIns="0" lIns="0" bIns="0" rIns="0">
            <a:spAutoFit/>
          </a:bodyPr>
          <a:lstStyle/>
          <a:p>
            <a:pPr algn="r">
              <a:lnSpc>
                <a:spcPts val="2100"/>
              </a:lnSpc>
              <a:spcBef>
                <a:spcPct val="0"/>
              </a:spcBef>
            </a:pPr>
            <a:r>
              <a:rPr lang="en-US" sz="2100" spc="-84">
                <a:solidFill>
                  <a:srgbClr val="C07A35"/>
                </a:solidFill>
                <a:latin typeface="Helvetica World"/>
                <a:ea typeface="Helvetica World"/>
                <a:cs typeface="Helvetica World"/>
                <a:sym typeface="Helvetica World"/>
              </a:rPr>
              <a:t>Dari total 768 pasien, sebanyak 500 pasien (65,1%) tidak terdiagnosis diabetes dan 268 pasien (34,9%) terdiagnosis diabetes.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grpSp>
        <p:nvGrpSpPr>
          <p:cNvPr name="Group 2" id="2"/>
          <p:cNvGrpSpPr/>
          <p:nvPr/>
        </p:nvGrpSpPr>
        <p:grpSpPr>
          <a:xfrm rot="0">
            <a:off x="16435318" y="5873687"/>
            <a:ext cx="2751252" cy="275125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4" id="4"/>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5" id="5"/>
          <p:cNvGrpSpPr/>
          <p:nvPr/>
        </p:nvGrpSpPr>
        <p:grpSpPr>
          <a:xfrm rot="0">
            <a:off x="13684066" y="8624939"/>
            <a:ext cx="2751252" cy="275125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7" id="7"/>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TextBox 8" id="8"/>
          <p:cNvSpPr txBox="true"/>
          <p:nvPr/>
        </p:nvSpPr>
        <p:spPr>
          <a:xfrm rot="0">
            <a:off x="1028700" y="197987"/>
            <a:ext cx="9873973" cy="678180"/>
          </a:xfrm>
          <a:prstGeom prst="rect">
            <a:avLst/>
          </a:prstGeom>
        </p:spPr>
        <p:txBody>
          <a:bodyPr anchor="t" rtlCol="false" tIns="0" lIns="0" bIns="0" rIns="0">
            <a:spAutoFit/>
          </a:bodyPr>
          <a:lstStyle/>
          <a:p>
            <a:pPr algn="ctr">
              <a:lnSpc>
                <a:spcPts val="5040"/>
              </a:lnSpc>
              <a:spcBef>
                <a:spcPct val="0"/>
              </a:spcBef>
            </a:pPr>
            <a:r>
              <a:rPr lang="en-US" b="true" sz="3600" spc="-144">
                <a:solidFill>
                  <a:srgbClr val="000000"/>
                </a:solidFill>
                <a:latin typeface="Helvetica World Bold"/>
                <a:ea typeface="Helvetica World Bold"/>
                <a:cs typeface="Helvetica World Bold"/>
                <a:sym typeface="Helvetica World Bold"/>
              </a:rPr>
              <a:t>Distribusi Kadar Glukosa Berdasarkan Diagnosis</a:t>
            </a:r>
          </a:p>
        </p:txBody>
      </p:sp>
      <p:grpSp>
        <p:nvGrpSpPr>
          <p:cNvPr name="Group 9" id="9"/>
          <p:cNvGrpSpPr/>
          <p:nvPr/>
        </p:nvGrpSpPr>
        <p:grpSpPr>
          <a:xfrm rot="0">
            <a:off x="1028700" y="-192040"/>
            <a:ext cx="21396257" cy="1220740"/>
            <a:chOff x="0" y="0"/>
            <a:chExt cx="28528342" cy="1627653"/>
          </a:xfrm>
        </p:grpSpPr>
        <p:sp>
          <p:nvSpPr>
            <p:cNvPr name="AutoShape 10" id="10"/>
            <p:cNvSpPr/>
            <p:nvPr/>
          </p:nvSpPr>
          <p:spPr>
            <a:xfrm>
              <a:off x="0" y="1602253"/>
              <a:ext cx="5476725" cy="0"/>
            </a:xfrm>
            <a:prstGeom prst="line">
              <a:avLst/>
            </a:prstGeom>
            <a:ln cap="rnd" w="50800">
              <a:solidFill>
                <a:srgbClr val="C07A35"/>
              </a:solidFill>
              <a:prstDash val="solid"/>
              <a:headEnd type="none" len="sm" w="sm"/>
              <a:tailEnd type="none" len="sm" w="sm"/>
            </a:ln>
          </p:spPr>
        </p:sp>
        <p:sp>
          <p:nvSpPr>
            <p:cNvPr name="TextBox 11" id="11"/>
            <p:cNvSpPr txBox="true"/>
            <p:nvPr/>
          </p:nvSpPr>
          <p:spPr>
            <a:xfrm rot="0">
              <a:off x="0" y="85725"/>
              <a:ext cx="28528342" cy="1043728"/>
            </a:xfrm>
            <a:prstGeom prst="rect">
              <a:avLst/>
            </a:prstGeom>
          </p:spPr>
          <p:txBody>
            <a:bodyPr anchor="t" rtlCol="false" tIns="0" lIns="0" bIns="0" rIns="0">
              <a:spAutoFit/>
            </a:bodyPr>
            <a:lstStyle/>
            <a:p>
              <a:pPr algn="l">
                <a:lnSpc>
                  <a:spcPts val="5600"/>
                </a:lnSpc>
              </a:pPr>
            </a:p>
          </p:txBody>
        </p:sp>
      </p:grpSp>
      <p:sp>
        <p:nvSpPr>
          <p:cNvPr name="Freeform 12" id="12"/>
          <p:cNvSpPr/>
          <p:nvPr/>
        </p:nvSpPr>
        <p:spPr>
          <a:xfrm flipH="false" flipV="false" rot="0">
            <a:off x="2409605" y="2138276"/>
            <a:ext cx="13468790" cy="6010448"/>
          </a:xfrm>
          <a:custGeom>
            <a:avLst/>
            <a:gdLst/>
            <a:ahLst/>
            <a:cxnLst/>
            <a:rect r="r" b="b" t="t" l="l"/>
            <a:pathLst>
              <a:path h="6010448" w="13468790">
                <a:moveTo>
                  <a:pt x="0" y="0"/>
                </a:moveTo>
                <a:lnTo>
                  <a:pt x="13468790" y="0"/>
                </a:lnTo>
                <a:lnTo>
                  <a:pt x="13468790" y="6010448"/>
                </a:lnTo>
                <a:lnTo>
                  <a:pt x="0" y="6010448"/>
                </a:lnTo>
                <a:lnTo>
                  <a:pt x="0" y="0"/>
                </a:lnTo>
                <a:close/>
              </a:path>
            </a:pathLst>
          </a:custGeom>
          <a:blipFill>
            <a:blip r:embed="rId2"/>
            <a:stretch>
              <a:fillRect l="0" t="0" r="0" b="0"/>
            </a:stretch>
          </a:blipFill>
        </p:spPr>
      </p:sp>
      <p:sp>
        <p:nvSpPr>
          <p:cNvPr name="TextBox 13" id="13"/>
          <p:cNvSpPr txBox="true"/>
          <p:nvPr/>
        </p:nvSpPr>
        <p:spPr>
          <a:xfrm rot="0">
            <a:off x="599404" y="8293101"/>
            <a:ext cx="12655366" cy="1993899"/>
          </a:xfrm>
          <a:prstGeom prst="rect">
            <a:avLst/>
          </a:prstGeom>
        </p:spPr>
        <p:txBody>
          <a:bodyPr anchor="t" rtlCol="false" tIns="0" lIns="0" bIns="0" rIns="0">
            <a:spAutoFit/>
          </a:bodyPr>
          <a:lstStyle/>
          <a:p>
            <a:pPr algn="l" marL="0" indent="0" lvl="0">
              <a:lnSpc>
                <a:spcPts val="3200"/>
              </a:lnSpc>
              <a:spcBef>
                <a:spcPct val="0"/>
              </a:spcBef>
            </a:pPr>
            <a:r>
              <a:rPr lang="en-US" sz="2000" spc="-40">
                <a:solidFill>
                  <a:srgbClr val="C07A35"/>
                </a:solidFill>
                <a:latin typeface="Helvetica World"/>
                <a:ea typeface="Helvetica World"/>
                <a:cs typeface="Helvetica World"/>
                <a:sym typeface="Helvetica World"/>
              </a:rPr>
              <a:t>P</a:t>
            </a:r>
            <a:r>
              <a:rPr lang="en-US" sz="2000" spc="-40" strike="noStrike" u="none">
                <a:solidFill>
                  <a:srgbClr val="C07A35"/>
                </a:solidFill>
                <a:latin typeface="Helvetica World"/>
                <a:ea typeface="Helvetica World"/>
                <a:cs typeface="Helvetica World"/>
                <a:sym typeface="Helvetica World"/>
              </a:rPr>
              <a:t>asien Tidak Diabetes memiliki rata-rata glukosa 110.6 mg/dL, sementara pasien Diabetes rata-rata 1</a:t>
            </a:r>
            <a:r>
              <a:rPr lang="en-US" sz="2000" spc="-40" strike="noStrike" u="none">
                <a:solidFill>
                  <a:srgbClr val="C07A35"/>
                </a:solidFill>
                <a:latin typeface="Helvetica World"/>
                <a:ea typeface="Helvetica World"/>
                <a:cs typeface="Helvetica World"/>
                <a:sym typeface="Helvetica World"/>
              </a:rPr>
              <a:t>37.</a:t>
            </a:r>
            <a:r>
              <a:rPr lang="en-US" sz="2000" spc="-40" strike="noStrike" u="none">
                <a:solidFill>
                  <a:srgbClr val="C07A35"/>
                </a:solidFill>
                <a:latin typeface="Helvetica World"/>
                <a:ea typeface="Helvetica World"/>
                <a:cs typeface="Helvetica World"/>
                <a:sym typeface="Helvetica World"/>
              </a:rPr>
              <a:t>6 mg/dL, </a:t>
            </a:r>
            <a:r>
              <a:rPr lang="en-US" sz="2000" spc="-40" strike="noStrike" u="none">
                <a:solidFill>
                  <a:srgbClr val="C07A35"/>
                </a:solidFill>
                <a:latin typeface="Helvetica World"/>
                <a:ea typeface="Helvetica World"/>
                <a:cs typeface="Helvetica World"/>
                <a:sym typeface="Helvetica World"/>
              </a:rPr>
              <a:t>selisihn</a:t>
            </a:r>
            <a:r>
              <a:rPr lang="en-US" sz="2000" spc="-40" strike="noStrike" u="none">
                <a:solidFill>
                  <a:srgbClr val="C07A35"/>
                </a:solidFill>
                <a:latin typeface="Helvetica World"/>
                <a:ea typeface="Helvetica World"/>
                <a:cs typeface="Helvetica World"/>
                <a:sym typeface="Helvetica World"/>
              </a:rPr>
              <a:t>ya 27 mg/dL. </a:t>
            </a:r>
          </a:p>
          <a:p>
            <a:pPr algn="l" marL="0" indent="0" lvl="0">
              <a:lnSpc>
                <a:spcPts val="3200"/>
              </a:lnSpc>
              <a:spcBef>
                <a:spcPct val="0"/>
              </a:spcBef>
            </a:pPr>
            <a:r>
              <a:rPr lang="en-US" sz="2000" spc="-40" strike="noStrike" u="none">
                <a:solidFill>
                  <a:srgbClr val="C07A35"/>
                </a:solidFill>
                <a:latin typeface="Helvetica World"/>
                <a:ea typeface="Helvetica World"/>
                <a:cs typeface="Helvetica World"/>
                <a:sym typeface="Helvetica World"/>
              </a:rPr>
              <a:t>Distribusi Tidak Diabetes terpusa</a:t>
            </a:r>
            <a:r>
              <a:rPr lang="en-US" sz="2000" spc="-40" strike="noStrike" u="none">
                <a:solidFill>
                  <a:srgbClr val="C07A35"/>
                </a:solidFill>
                <a:latin typeface="Helvetica World"/>
                <a:ea typeface="Helvetica World"/>
                <a:cs typeface="Helvetica World"/>
                <a:sym typeface="Helvetica World"/>
              </a:rPr>
              <a:t>t</a:t>
            </a:r>
            <a:r>
              <a:rPr lang="en-US" sz="2000" spc="-40" strike="noStrike" u="none">
                <a:solidFill>
                  <a:srgbClr val="C07A35"/>
                </a:solidFill>
                <a:latin typeface="Helvetica World"/>
                <a:ea typeface="Helvetica World"/>
                <a:cs typeface="Helvetica World"/>
                <a:sym typeface="Helvetica World"/>
              </a:rPr>
              <a:t> dan mende</a:t>
            </a:r>
            <a:r>
              <a:rPr lang="en-US" sz="2000" spc="-40" strike="noStrike" u="none">
                <a:solidFill>
                  <a:srgbClr val="C07A35"/>
                </a:solidFill>
                <a:latin typeface="Helvetica World"/>
                <a:ea typeface="Helvetica World"/>
                <a:cs typeface="Helvetica World"/>
                <a:sym typeface="Helvetica World"/>
              </a:rPr>
              <a:t>k</a:t>
            </a:r>
            <a:r>
              <a:rPr lang="en-US" sz="2000" spc="-40" strike="noStrike" u="none">
                <a:solidFill>
                  <a:srgbClr val="C07A35"/>
                </a:solidFill>
                <a:latin typeface="Helvetica World"/>
                <a:ea typeface="Helvetica World"/>
                <a:cs typeface="Helvetica World"/>
                <a:sym typeface="Helvetica World"/>
              </a:rPr>
              <a:t>a</a:t>
            </a:r>
            <a:r>
              <a:rPr lang="en-US" sz="2000" spc="-40" strike="noStrike" u="none">
                <a:solidFill>
                  <a:srgbClr val="C07A35"/>
                </a:solidFill>
                <a:latin typeface="Helvetica World"/>
                <a:ea typeface="Helvetica World"/>
                <a:cs typeface="Helvetica World"/>
                <a:sym typeface="Helvetica World"/>
              </a:rPr>
              <a:t>t</a:t>
            </a:r>
            <a:r>
              <a:rPr lang="en-US" sz="2000" spc="-40" strike="noStrike" u="none">
                <a:solidFill>
                  <a:srgbClr val="C07A35"/>
                </a:solidFill>
                <a:latin typeface="Helvetica World"/>
                <a:ea typeface="Helvetica World"/>
                <a:cs typeface="Helvetica World"/>
                <a:sym typeface="Helvetica World"/>
              </a:rPr>
              <a:t>i </a:t>
            </a:r>
            <a:r>
              <a:rPr lang="en-US" sz="2000" spc="-40" strike="noStrike" u="none">
                <a:solidFill>
                  <a:srgbClr val="C07A35"/>
                </a:solidFill>
                <a:latin typeface="Helvetica World"/>
                <a:ea typeface="Helvetica World"/>
                <a:cs typeface="Helvetica World"/>
                <a:sym typeface="Helvetica World"/>
              </a:rPr>
              <a:t>s</a:t>
            </a:r>
            <a:r>
              <a:rPr lang="en-US" sz="2000" spc="-40" strike="noStrike" u="none">
                <a:solidFill>
                  <a:srgbClr val="C07A35"/>
                </a:solidFill>
                <a:latin typeface="Helvetica World"/>
                <a:ea typeface="Helvetica World"/>
                <a:cs typeface="Helvetica World"/>
                <a:sym typeface="Helvetica World"/>
              </a:rPr>
              <a:t>i</a:t>
            </a:r>
            <a:r>
              <a:rPr lang="en-US" sz="2000" spc="-40" strike="noStrike" u="none">
                <a:solidFill>
                  <a:srgbClr val="C07A35"/>
                </a:solidFill>
                <a:latin typeface="Helvetica World"/>
                <a:ea typeface="Helvetica World"/>
                <a:cs typeface="Helvetica World"/>
                <a:sym typeface="Helvetica World"/>
              </a:rPr>
              <a:t>me</a:t>
            </a:r>
            <a:r>
              <a:rPr lang="en-US" sz="2000" spc="-40" strike="noStrike" u="none">
                <a:solidFill>
                  <a:srgbClr val="C07A35"/>
                </a:solidFill>
                <a:latin typeface="Helvetica World"/>
                <a:ea typeface="Helvetica World"/>
                <a:cs typeface="Helvetica World"/>
                <a:sym typeface="Helvetica World"/>
              </a:rPr>
              <a:t>tr</a:t>
            </a:r>
            <a:r>
              <a:rPr lang="en-US" sz="2000" spc="-40" strike="noStrike" u="none">
                <a:solidFill>
                  <a:srgbClr val="C07A35"/>
                </a:solidFill>
                <a:latin typeface="Helvetica World"/>
                <a:ea typeface="Helvetica World"/>
                <a:cs typeface="Helvetica World"/>
                <a:sym typeface="Helvetica World"/>
              </a:rPr>
              <a:t>is.</a:t>
            </a:r>
            <a:r>
              <a:rPr lang="en-US" sz="2000" spc="-40" strike="noStrike" u="none">
                <a:solidFill>
                  <a:srgbClr val="C07A35"/>
                </a:solidFill>
                <a:latin typeface="Helvetica World"/>
                <a:ea typeface="Helvetica World"/>
                <a:cs typeface="Helvetica World"/>
                <a:sym typeface="Helvetica World"/>
              </a:rPr>
              <a:t> Di</a:t>
            </a:r>
            <a:r>
              <a:rPr lang="en-US" sz="2000" spc="-40" strike="noStrike" u="none">
                <a:solidFill>
                  <a:srgbClr val="C07A35"/>
                </a:solidFill>
                <a:latin typeface="Helvetica World"/>
                <a:ea typeface="Helvetica World"/>
                <a:cs typeface="Helvetica World"/>
                <a:sym typeface="Helvetica World"/>
              </a:rPr>
              <a:t>str</a:t>
            </a:r>
            <a:r>
              <a:rPr lang="en-US" sz="2000" spc="-40" strike="noStrike" u="none">
                <a:solidFill>
                  <a:srgbClr val="C07A35"/>
                </a:solidFill>
                <a:latin typeface="Helvetica World"/>
                <a:ea typeface="Helvetica World"/>
                <a:cs typeface="Helvetica World"/>
                <a:sym typeface="Helvetica World"/>
              </a:rPr>
              <a:t>i</a:t>
            </a:r>
            <a:r>
              <a:rPr lang="en-US" sz="2000" spc="-40" strike="noStrike" u="none">
                <a:solidFill>
                  <a:srgbClr val="C07A35"/>
                </a:solidFill>
                <a:latin typeface="Helvetica World"/>
                <a:ea typeface="Helvetica World"/>
                <a:cs typeface="Helvetica World"/>
                <a:sym typeface="Helvetica World"/>
              </a:rPr>
              <a:t>bu</a:t>
            </a:r>
            <a:r>
              <a:rPr lang="en-US" sz="2000" spc="-40" strike="noStrike" u="none">
                <a:solidFill>
                  <a:srgbClr val="C07A35"/>
                </a:solidFill>
                <a:latin typeface="Helvetica World"/>
                <a:ea typeface="Helvetica World"/>
                <a:cs typeface="Helvetica World"/>
                <a:sym typeface="Helvetica World"/>
              </a:rPr>
              <a:t>s</a:t>
            </a:r>
            <a:r>
              <a:rPr lang="en-US" sz="2000" spc="-40" strike="noStrike" u="none">
                <a:solidFill>
                  <a:srgbClr val="C07A35"/>
                </a:solidFill>
                <a:latin typeface="Helvetica World"/>
                <a:ea typeface="Helvetica World"/>
                <a:cs typeface="Helvetica World"/>
                <a:sym typeface="Helvetica World"/>
              </a:rPr>
              <a:t>i</a:t>
            </a:r>
            <a:r>
              <a:rPr lang="en-US" sz="2000" spc="-40" strike="noStrike" u="none">
                <a:solidFill>
                  <a:srgbClr val="C07A35"/>
                </a:solidFill>
                <a:latin typeface="Helvetica World"/>
                <a:ea typeface="Helvetica World"/>
                <a:cs typeface="Helvetica World"/>
                <a:sym typeface="Helvetica World"/>
              </a:rPr>
              <a:t> Diabetes l</a:t>
            </a:r>
            <a:r>
              <a:rPr lang="en-US" sz="2000" spc="-40" strike="noStrike" u="none">
                <a:solidFill>
                  <a:srgbClr val="C07A35"/>
                </a:solidFill>
                <a:latin typeface="Helvetica World"/>
                <a:ea typeface="Helvetica World"/>
                <a:cs typeface="Helvetica World"/>
                <a:sym typeface="Helvetica World"/>
              </a:rPr>
              <a:t>eb</a:t>
            </a:r>
            <a:r>
              <a:rPr lang="en-US" sz="2000" spc="-40" strike="noStrike" u="none">
                <a:solidFill>
                  <a:srgbClr val="C07A35"/>
                </a:solidFill>
                <a:latin typeface="Helvetica World"/>
                <a:ea typeface="Helvetica World"/>
                <a:cs typeface="Helvetica World"/>
                <a:sym typeface="Helvetica World"/>
              </a:rPr>
              <a:t>ih tersebar k</a:t>
            </a:r>
            <a:r>
              <a:rPr lang="en-US" sz="2000" spc="-40" strike="noStrike" u="none">
                <a:solidFill>
                  <a:srgbClr val="C07A35"/>
                </a:solidFill>
                <a:latin typeface="Helvetica World"/>
                <a:ea typeface="Helvetica World"/>
                <a:cs typeface="Helvetica World"/>
                <a:sym typeface="Helvetica World"/>
              </a:rPr>
              <a:t>e k</a:t>
            </a:r>
            <a:r>
              <a:rPr lang="en-US" sz="2000" spc="-40" strike="noStrike" u="none">
                <a:solidFill>
                  <a:srgbClr val="C07A35"/>
                </a:solidFill>
                <a:latin typeface="Helvetica World"/>
                <a:ea typeface="Helvetica World"/>
                <a:cs typeface="Helvetica World"/>
                <a:sym typeface="Helvetica World"/>
              </a:rPr>
              <a:t>a</a:t>
            </a:r>
            <a:r>
              <a:rPr lang="en-US" sz="2000" spc="-40" strike="noStrike" u="none">
                <a:solidFill>
                  <a:srgbClr val="C07A35"/>
                </a:solidFill>
                <a:latin typeface="Helvetica World"/>
                <a:ea typeface="Helvetica World"/>
                <a:cs typeface="Helvetica World"/>
                <a:sym typeface="Helvetica World"/>
              </a:rPr>
              <a:t>nan</a:t>
            </a:r>
            <a:r>
              <a:rPr lang="en-US" sz="2000" spc="-40" strike="noStrike" u="none">
                <a:solidFill>
                  <a:srgbClr val="C07A35"/>
                </a:solidFill>
                <a:latin typeface="Helvetica World"/>
                <a:ea typeface="Helvetica World"/>
                <a:cs typeface="Helvetica World"/>
                <a:sym typeface="Helvetica World"/>
              </a:rPr>
              <a:t> d</a:t>
            </a:r>
            <a:r>
              <a:rPr lang="en-US" sz="2000" spc="-40" strike="noStrike" u="none">
                <a:solidFill>
                  <a:srgbClr val="C07A35"/>
                </a:solidFill>
                <a:latin typeface="Helvetica World"/>
                <a:ea typeface="Helvetica World"/>
                <a:cs typeface="Helvetica World"/>
                <a:sym typeface="Helvetica World"/>
              </a:rPr>
              <a:t>eng</a:t>
            </a:r>
            <a:r>
              <a:rPr lang="en-US" sz="2000" spc="-40" strike="noStrike" u="none">
                <a:solidFill>
                  <a:srgbClr val="C07A35"/>
                </a:solidFill>
                <a:latin typeface="Helvetica World"/>
                <a:ea typeface="Helvetica World"/>
                <a:cs typeface="Helvetica World"/>
                <a:sym typeface="Helvetica World"/>
              </a:rPr>
              <a:t>a</a:t>
            </a:r>
            <a:r>
              <a:rPr lang="en-US" sz="2000" spc="-40" strike="noStrike" u="none">
                <a:solidFill>
                  <a:srgbClr val="C07A35"/>
                </a:solidFill>
                <a:latin typeface="Helvetica World"/>
                <a:ea typeface="Helvetica World"/>
                <a:cs typeface="Helvetica World"/>
                <a:sym typeface="Helvetica World"/>
              </a:rPr>
              <a:t>n b</a:t>
            </a:r>
            <a:r>
              <a:rPr lang="en-US" sz="2000" spc="-40" strike="noStrike" u="none">
                <a:solidFill>
                  <a:srgbClr val="C07A35"/>
                </a:solidFill>
                <a:latin typeface="Helvetica World"/>
                <a:ea typeface="Helvetica World"/>
                <a:cs typeface="Helvetica World"/>
                <a:sym typeface="Helvetica World"/>
              </a:rPr>
              <a:t>a</a:t>
            </a:r>
            <a:r>
              <a:rPr lang="en-US" sz="2000" spc="-40" strike="noStrike" u="none">
                <a:solidFill>
                  <a:srgbClr val="C07A35"/>
                </a:solidFill>
                <a:latin typeface="Helvetica World"/>
                <a:ea typeface="Helvetica World"/>
                <a:cs typeface="Helvetica World"/>
                <a:sym typeface="Helvetica World"/>
              </a:rPr>
              <a:t>nyak</a:t>
            </a:r>
            <a:r>
              <a:rPr lang="en-US" sz="2000" spc="-40" strike="noStrike" u="none">
                <a:solidFill>
                  <a:srgbClr val="C07A35"/>
                </a:solidFill>
                <a:latin typeface="Helvetica World"/>
                <a:ea typeface="Helvetica World"/>
                <a:cs typeface="Helvetica World"/>
                <a:sym typeface="Helvetica World"/>
              </a:rPr>
              <a:t> pasien</a:t>
            </a:r>
            <a:r>
              <a:rPr lang="en-US" sz="2000" spc="-40" strike="noStrike" u="none">
                <a:solidFill>
                  <a:srgbClr val="C07A35"/>
                </a:solidFill>
                <a:latin typeface="Helvetica World"/>
                <a:ea typeface="Helvetica World"/>
                <a:cs typeface="Helvetica World"/>
                <a:sym typeface="Helvetica World"/>
              </a:rPr>
              <a:t> m</a:t>
            </a:r>
            <a:r>
              <a:rPr lang="en-US" sz="2000" spc="-40" strike="noStrike" u="none">
                <a:solidFill>
                  <a:srgbClr val="C07A35"/>
                </a:solidFill>
                <a:latin typeface="Helvetica World"/>
                <a:ea typeface="Helvetica World"/>
                <a:cs typeface="Helvetica World"/>
                <a:sym typeface="Helvetica World"/>
              </a:rPr>
              <a:t>e</a:t>
            </a:r>
            <a:r>
              <a:rPr lang="en-US" sz="2000" spc="-40" strike="noStrike" u="none">
                <a:solidFill>
                  <a:srgbClr val="C07A35"/>
                </a:solidFill>
                <a:latin typeface="Helvetica World"/>
                <a:ea typeface="Helvetica World"/>
                <a:cs typeface="Helvetica World"/>
                <a:sym typeface="Helvetica World"/>
              </a:rPr>
              <a:t>lampau</a:t>
            </a:r>
            <a:r>
              <a:rPr lang="en-US" sz="2000" spc="-40" strike="noStrike" u="none">
                <a:solidFill>
                  <a:srgbClr val="C07A35"/>
                </a:solidFill>
                <a:latin typeface="Helvetica World"/>
                <a:ea typeface="Helvetica World"/>
                <a:cs typeface="Helvetica World"/>
                <a:sym typeface="Helvetica World"/>
              </a:rPr>
              <a:t>i b</a:t>
            </a:r>
            <a:r>
              <a:rPr lang="en-US" sz="2000" spc="-40" strike="noStrike" u="none">
                <a:solidFill>
                  <a:srgbClr val="C07A35"/>
                </a:solidFill>
                <a:latin typeface="Helvetica World"/>
                <a:ea typeface="Helvetica World"/>
                <a:cs typeface="Helvetica World"/>
                <a:sym typeface="Helvetica World"/>
              </a:rPr>
              <a:t>a</a:t>
            </a:r>
            <a:r>
              <a:rPr lang="en-US" sz="2000" spc="-40" strike="noStrike" u="none">
                <a:solidFill>
                  <a:srgbClr val="C07A35"/>
                </a:solidFill>
                <a:latin typeface="Helvetica World"/>
                <a:ea typeface="Helvetica World"/>
                <a:cs typeface="Helvetica World"/>
                <a:sym typeface="Helvetica World"/>
              </a:rPr>
              <a:t>t</a:t>
            </a:r>
            <a:r>
              <a:rPr lang="en-US" sz="2000" spc="-40" strike="noStrike" u="none">
                <a:solidFill>
                  <a:srgbClr val="C07A35"/>
                </a:solidFill>
                <a:latin typeface="Helvetica World"/>
                <a:ea typeface="Helvetica World"/>
                <a:cs typeface="Helvetica World"/>
                <a:sym typeface="Helvetica World"/>
              </a:rPr>
              <a:t>a</a:t>
            </a:r>
            <a:r>
              <a:rPr lang="en-US" sz="2000" spc="-40" strike="noStrike" u="none">
                <a:solidFill>
                  <a:srgbClr val="C07A35"/>
                </a:solidFill>
                <a:latin typeface="Helvetica World"/>
                <a:ea typeface="Helvetica World"/>
                <a:cs typeface="Helvetica World"/>
                <a:sym typeface="Helvetica World"/>
              </a:rPr>
              <a:t>s</a:t>
            </a:r>
            <a:r>
              <a:rPr lang="en-US" sz="2000" spc="-40" strike="noStrike" u="none">
                <a:solidFill>
                  <a:srgbClr val="C07A35"/>
                </a:solidFill>
                <a:latin typeface="Helvetica World"/>
                <a:ea typeface="Helvetica World"/>
                <a:cs typeface="Helvetica World"/>
                <a:sym typeface="Helvetica World"/>
              </a:rPr>
              <a:t> 126 mg/dL</a:t>
            </a:r>
          </a:p>
          <a:p>
            <a:pPr algn="l" marL="0" indent="0" lvl="0">
              <a:lnSpc>
                <a:spcPts val="32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981815"/>
            <a:ext cx="792133" cy="0"/>
          </a:xfrm>
          <a:prstGeom prst="line">
            <a:avLst/>
          </a:prstGeom>
          <a:ln cap="rnd" w="38100">
            <a:solidFill>
              <a:srgbClr val="000000"/>
            </a:solidFill>
            <a:prstDash val="solid"/>
            <a:headEnd type="none" len="sm" w="sm"/>
            <a:tailEnd type="none" len="sm" w="sm"/>
          </a:ln>
        </p:spPr>
      </p:sp>
      <p:sp>
        <p:nvSpPr>
          <p:cNvPr name="Freeform 3" id="3"/>
          <p:cNvSpPr/>
          <p:nvPr/>
        </p:nvSpPr>
        <p:spPr>
          <a:xfrm flipH="false" flipV="false" rot="0">
            <a:off x="4844119" y="1219059"/>
            <a:ext cx="13121678" cy="5215867"/>
          </a:xfrm>
          <a:custGeom>
            <a:avLst/>
            <a:gdLst/>
            <a:ahLst/>
            <a:cxnLst/>
            <a:rect r="r" b="b" t="t" l="l"/>
            <a:pathLst>
              <a:path h="5215867" w="13121678">
                <a:moveTo>
                  <a:pt x="0" y="0"/>
                </a:moveTo>
                <a:lnTo>
                  <a:pt x="13121678" y="0"/>
                </a:lnTo>
                <a:lnTo>
                  <a:pt x="13121678" y="5215868"/>
                </a:lnTo>
                <a:lnTo>
                  <a:pt x="0" y="5215868"/>
                </a:lnTo>
                <a:lnTo>
                  <a:pt x="0" y="0"/>
                </a:lnTo>
                <a:close/>
              </a:path>
            </a:pathLst>
          </a:custGeom>
          <a:blipFill>
            <a:blip r:embed="rId2"/>
            <a:stretch>
              <a:fillRect l="0" t="0" r="0" b="0"/>
            </a:stretch>
          </a:blipFill>
        </p:spPr>
      </p:sp>
      <p:sp>
        <p:nvSpPr>
          <p:cNvPr name="TextBox 4" id="4"/>
          <p:cNvSpPr txBox="true"/>
          <p:nvPr/>
        </p:nvSpPr>
        <p:spPr>
          <a:xfrm rot="0">
            <a:off x="566110" y="364777"/>
            <a:ext cx="11301259" cy="232346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Perbandingan Nilai Median Fitur Klinis Utama</a:t>
            </a:r>
          </a:p>
          <a:p>
            <a:pPr algn="l">
              <a:lnSpc>
                <a:spcPts val="5600"/>
              </a:lnSpc>
            </a:pPr>
          </a:p>
        </p:txBody>
      </p:sp>
      <p:sp>
        <p:nvSpPr>
          <p:cNvPr name="TextBox 5" id="5"/>
          <p:cNvSpPr txBox="true"/>
          <p:nvPr/>
        </p:nvSpPr>
        <p:spPr>
          <a:xfrm rot="0">
            <a:off x="1028700" y="7265821"/>
            <a:ext cx="16393189" cy="2262324"/>
          </a:xfrm>
          <a:prstGeom prst="rect">
            <a:avLst/>
          </a:prstGeom>
        </p:spPr>
        <p:txBody>
          <a:bodyPr anchor="t" rtlCol="false" tIns="0" lIns="0" bIns="0" rIns="0">
            <a:spAutoFit/>
          </a:bodyPr>
          <a:lstStyle/>
          <a:p>
            <a:pPr algn="just">
              <a:lnSpc>
                <a:spcPts val="2068"/>
              </a:lnSpc>
              <a:spcBef>
                <a:spcPct val="0"/>
              </a:spcBef>
            </a:pPr>
            <a:r>
              <a:rPr lang="en-US" b="true" sz="2068" spc="-124">
                <a:solidFill>
                  <a:srgbClr val="000000"/>
                </a:solidFill>
                <a:latin typeface="Helvetica World Bold"/>
                <a:ea typeface="Helvetica World Bold"/>
                <a:cs typeface="Helvetica World Bold"/>
                <a:sym typeface="Helvetica World Bold"/>
              </a:rPr>
              <a:t>Glukosa menunjukkan pemisahan paling jelas. Median pasien Tidak Diabetes berada di 111 mg/dL dengan IQR 93 hingga 129.25, sementara median pasien Diabetes di 137.5 mg/dL dengan IQR 118 hingga 157. Kotak keduanya hampir tidak tumpang tindih.</a:t>
            </a:r>
          </a:p>
          <a:p>
            <a:pPr algn="just">
              <a:lnSpc>
                <a:spcPts val="2068"/>
              </a:lnSpc>
              <a:spcBef>
                <a:spcPct val="0"/>
              </a:spcBef>
            </a:pPr>
          </a:p>
          <a:p>
            <a:pPr algn="just">
              <a:lnSpc>
                <a:spcPts val="2068"/>
              </a:lnSpc>
              <a:spcBef>
                <a:spcPct val="0"/>
              </a:spcBef>
            </a:pPr>
            <a:r>
              <a:rPr lang="en-US" b="true" sz="2068" spc="-124">
                <a:solidFill>
                  <a:srgbClr val="000000"/>
                </a:solidFill>
                <a:latin typeface="Helvetica World Bold"/>
                <a:ea typeface="Helvetica World Bold"/>
                <a:cs typeface="Helvetica World Bold"/>
                <a:sym typeface="Helvetica World Bold"/>
              </a:rPr>
              <a:t>BMI pasien Tidak Diabetes memiliki median 30.1 dengan IQR 24.8 hingga 35.2, sedangkan pasien Diabetes median 35.7 dengan IQR 30.1 hingga 40.4. Perbedaannya nyata meskipun kotak masih sedikit tumpang tindih.</a:t>
            </a:r>
          </a:p>
          <a:p>
            <a:pPr algn="just">
              <a:lnSpc>
                <a:spcPts val="2068"/>
              </a:lnSpc>
              <a:spcBef>
                <a:spcPct val="0"/>
              </a:spcBef>
            </a:pPr>
          </a:p>
          <a:p>
            <a:pPr algn="just">
              <a:lnSpc>
                <a:spcPts val="2068"/>
              </a:lnSpc>
              <a:spcBef>
                <a:spcPct val="0"/>
              </a:spcBef>
            </a:pPr>
            <a:r>
              <a:rPr lang="en-US" b="true" sz="2068" spc="-124">
                <a:solidFill>
                  <a:srgbClr val="000000"/>
                </a:solidFill>
                <a:latin typeface="Helvetica World Bold"/>
                <a:ea typeface="Helvetica World Bold"/>
                <a:cs typeface="Helvetica World Bold"/>
                <a:sym typeface="Helvetica World Bold"/>
              </a:rPr>
              <a:t>Usia menunjukkan perbedaan paling kecil. Median Tidak Diabetes 32 tahun, Diabetes 34 tahun, dan kotak IQR keduanya hampir sepenuhnya bertumpang tindih. Ini mengonfirmasi usia bukan pembeda yang kuat secara individual.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602842" y="1849646"/>
            <a:ext cx="2309155" cy="0"/>
          </a:xfrm>
          <a:prstGeom prst="line">
            <a:avLst/>
          </a:prstGeom>
          <a:ln cap="rnd" w="38100">
            <a:solidFill>
              <a:srgbClr val="000000"/>
            </a:solidFill>
            <a:prstDash val="solid"/>
            <a:headEnd type="none" len="sm" w="sm"/>
            <a:tailEnd type="none" len="sm" w="sm"/>
          </a:ln>
        </p:spPr>
      </p:sp>
      <p:sp>
        <p:nvSpPr>
          <p:cNvPr name="Freeform 3" id="3"/>
          <p:cNvSpPr/>
          <p:nvPr/>
        </p:nvSpPr>
        <p:spPr>
          <a:xfrm flipH="false" flipV="false" rot="0">
            <a:off x="5782948" y="1298892"/>
            <a:ext cx="12116391" cy="5164612"/>
          </a:xfrm>
          <a:custGeom>
            <a:avLst/>
            <a:gdLst/>
            <a:ahLst/>
            <a:cxnLst/>
            <a:rect r="r" b="b" t="t" l="l"/>
            <a:pathLst>
              <a:path h="5164612" w="12116391">
                <a:moveTo>
                  <a:pt x="0" y="0"/>
                </a:moveTo>
                <a:lnTo>
                  <a:pt x="12116391" y="0"/>
                </a:lnTo>
                <a:lnTo>
                  <a:pt x="12116391" y="5164612"/>
                </a:lnTo>
                <a:lnTo>
                  <a:pt x="0" y="5164612"/>
                </a:lnTo>
                <a:lnTo>
                  <a:pt x="0" y="0"/>
                </a:lnTo>
                <a:close/>
              </a:path>
            </a:pathLst>
          </a:custGeom>
          <a:blipFill>
            <a:blip r:embed="rId2"/>
            <a:stretch>
              <a:fillRect l="0" t="0" r="0" b="0"/>
            </a:stretch>
          </a:blipFill>
        </p:spPr>
      </p:sp>
      <p:sp>
        <p:nvSpPr>
          <p:cNvPr name="TextBox 4" id="4"/>
          <p:cNvSpPr txBox="true"/>
          <p:nvPr/>
        </p:nvSpPr>
        <p:spPr>
          <a:xfrm rot="0">
            <a:off x="602842" y="376554"/>
            <a:ext cx="11301259" cy="1920876"/>
          </a:xfrm>
          <a:prstGeom prst="rect">
            <a:avLst/>
          </a:prstGeom>
        </p:spPr>
        <p:txBody>
          <a:bodyPr anchor="t" rtlCol="false" tIns="0" lIns="0" bIns="0" rIns="0">
            <a:spAutoFit/>
          </a:bodyPr>
          <a:lstStyle/>
          <a:p>
            <a:pPr algn="l">
              <a:lnSpc>
                <a:spcPts val="4600"/>
              </a:lnSpc>
            </a:pPr>
            <a:r>
              <a:rPr lang="en-US" sz="4600" spc="-276" b="true">
                <a:solidFill>
                  <a:srgbClr val="C07A35"/>
                </a:solidFill>
                <a:latin typeface="Helvetica World Bold"/>
                <a:ea typeface="Helvetica World Bold"/>
                <a:cs typeface="Helvetica World Bold"/>
                <a:sym typeface="Helvetica World Bold"/>
              </a:rPr>
              <a:t>Tingkat Diabetes Berdasarkan Kategori BMI dan Kelompok Usia</a:t>
            </a:r>
          </a:p>
          <a:p>
            <a:pPr algn="l">
              <a:lnSpc>
                <a:spcPts val="4600"/>
              </a:lnSpc>
            </a:pPr>
          </a:p>
        </p:txBody>
      </p:sp>
      <p:sp>
        <p:nvSpPr>
          <p:cNvPr name="TextBox 5" id="5"/>
          <p:cNvSpPr txBox="true"/>
          <p:nvPr/>
        </p:nvSpPr>
        <p:spPr>
          <a:xfrm rot="0">
            <a:off x="910826" y="6916691"/>
            <a:ext cx="16466348" cy="3191509"/>
          </a:xfrm>
          <a:prstGeom prst="rect">
            <a:avLst/>
          </a:prstGeom>
        </p:spPr>
        <p:txBody>
          <a:bodyPr anchor="t" rtlCol="false" tIns="0" lIns="0" bIns="0" rIns="0">
            <a:spAutoFit/>
          </a:bodyPr>
          <a:lstStyle/>
          <a:p>
            <a:pPr algn="l">
              <a:lnSpc>
                <a:spcPts val="3640"/>
              </a:lnSpc>
              <a:spcBef>
                <a:spcPct val="0"/>
              </a:spcBef>
            </a:pPr>
            <a:r>
              <a:rPr lang="en-US" sz="2600" spc="-104">
                <a:solidFill>
                  <a:srgbClr val="000000"/>
                </a:solidFill>
                <a:latin typeface="Helvetica World"/>
                <a:ea typeface="Helvetica World"/>
                <a:cs typeface="Helvetica World"/>
                <a:sym typeface="Helvetica World"/>
              </a:rPr>
              <a:t>Kelompok Kurus hanya 9.4% pa</a:t>
            </a:r>
            <a:r>
              <a:rPr lang="en-US" sz="2600" spc="-104">
                <a:solidFill>
                  <a:srgbClr val="000000"/>
                </a:solidFill>
                <a:latin typeface="Helvetica World"/>
                <a:ea typeface="Helvetica World"/>
                <a:cs typeface="Helvetica World"/>
                <a:sym typeface="Helvetica World"/>
              </a:rPr>
              <a:t>siennya terdiagnosis diabetes (n=32), Normal 19.2% (n=120), Gemuk 25.0% (n=160), dan Obesitas mencapai 44.3% (n=456), hampir lima kali lipat lebih tinggi dari kelompok Kurus.</a:t>
            </a:r>
          </a:p>
          <a:p>
            <a:pPr algn="l">
              <a:lnSpc>
                <a:spcPts val="3640"/>
              </a:lnSpc>
              <a:spcBef>
                <a:spcPct val="0"/>
              </a:spcBef>
            </a:pPr>
          </a:p>
          <a:p>
            <a:pPr algn="l">
              <a:lnSpc>
                <a:spcPts val="3640"/>
              </a:lnSpc>
              <a:spcBef>
                <a:spcPct val="0"/>
              </a:spcBef>
            </a:pPr>
            <a:r>
              <a:rPr lang="en-US" sz="2600" spc="-104">
                <a:solidFill>
                  <a:srgbClr val="000000"/>
                </a:solidFill>
                <a:latin typeface="Helvetica World"/>
                <a:ea typeface="Helvetica World"/>
                <a:cs typeface="Helvetica World"/>
                <a:sym typeface="Helvetica World"/>
              </a:rPr>
              <a:t>Pada kelompok usia, pola tidak sepenuhnya linear. Kelompok 21-29 tahun memiliki tingkat 32.4% (n=299), 30-39 tahun 36.0% (n=267), 40-49 tahun 34.0% (n=147), 50-59 tahun mencapai puncaknya 46.8% (n=47), lalu 60 ke atas 37.5% (n=8). Kelompok 60+ memiliki sampel sangat kecil sehingga estimasinya kurang stabil.</a:t>
            </a:r>
          </a:p>
          <a:p>
            <a:pPr algn="l">
              <a:lnSpc>
                <a:spcPts val="364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298944"/>
            <a:ext cx="792133" cy="0"/>
          </a:xfrm>
          <a:prstGeom prst="line">
            <a:avLst/>
          </a:prstGeom>
          <a:ln cap="rnd" w="38100">
            <a:solidFill>
              <a:srgbClr val="000000"/>
            </a:solidFill>
            <a:prstDash val="solid"/>
            <a:headEnd type="none" len="sm" w="sm"/>
            <a:tailEnd type="none" len="sm" w="sm"/>
          </a:ln>
        </p:spPr>
      </p:sp>
      <p:grpSp>
        <p:nvGrpSpPr>
          <p:cNvPr name="Group 3" id="3"/>
          <p:cNvGrpSpPr/>
          <p:nvPr/>
        </p:nvGrpSpPr>
        <p:grpSpPr>
          <a:xfrm rot="0">
            <a:off x="16435318" y="5873687"/>
            <a:ext cx="2751252" cy="27512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5" id="5"/>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6" id="6"/>
          <p:cNvGrpSpPr/>
          <p:nvPr/>
        </p:nvGrpSpPr>
        <p:grpSpPr>
          <a:xfrm rot="0">
            <a:off x="13684066" y="8624939"/>
            <a:ext cx="2751252" cy="27512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8" id="8"/>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Freeform 9" id="9"/>
          <p:cNvSpPr/>
          <p:nvPr/>
        </p:nvSpPr>
        <p:spPr>
          <a:xfrm flipH="false" flipV="false" rot="0">
            <a:off x="566110" y="1637593"/>
            <a:ext cx="8693432" cy="6987346"/>
          </a:xfrm>
          <a:custGeom>
            <a:avLst/>
            <a:gdLst/>
            <a:ahLst/>
            <a:cxnLst/>
            <a:rect r="r" b="b" t="t" l="l"/>
            <a:pathLst>
              <a:path h="6987346" w="8693432">
                <a:moveTo>
                  <a:pt x="0" y="0"/>
                </a:moveTo>
                <a:lnTo>
                  <a:pt x="8693432" y="0"/>
                </a:lnTo>
                <a:lnTo>
                  <a:pt x="8693432" y="6987346"/>
                </a:lnTo>
                <a:lnTo>
                  <a:pt x="0" y="6987346"/>
                </a:lnTo>
                <a:lnTo>
                  <a:pt x="0" y="0"/>
                </a:lnTo>
                <a:close/>
              </a:path>
            </a:pathLst>
          </a:custGeom>
          <a:blipFill>
            <a:blip r:embed="rId2"/>
            <a:stretch>
              <a:fillRect l="0" t="0" r="0" b="0"/>
            </a:stretch>
          </a:blipFill>
        </p:spPr>
      </p:sp>
      <p:sp>
        <p:nvSpPr>
          <p:cNvPr name="TextBox 10" id="10"/>
          <p:cNvSpPr txBox="true"/>
          <p:nvPr/>
        </p:nvSpPr>
        <p:spPr>
          <a:xfrm rot="0">
            <a:off x="566110" y="364777"/>
            <a:ext cx="11301259" cy="154241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Korelasi Antar Variabel Klinis</a:t>
            </a:r>
          </a:p>
          <a:p>
            <a:pPr algn="l">
              <a:lnSpc>
                <a:spcPts val="5600"/>
              </a:lnSpc>
            </a:pPr>
          </a:p>
        </p:txBody>
      </p:sp>
      <p:sp>
        <p:nvSpPr>
          <p:cNvPr name="TextBox 11" id="11"/>
          <p:cNvSpPr txBox="true"/>
          <p:nvPr/>
        </p:nvSpPr>
        <p:spPr>
          <a:xfrm rot="0">
            <a:off x="9989647" y="1570918"/>
            <a:ext cx="6445671" cy="7291070"/>
          </a:xfrm>
          <a:prstGeom prst="rect">
            <a:avLst/>
          </a:prstGeom>
        </p:spPr>
        <p:txBody>
          <a:bodyPr anchor="t" rtlCol="false" tIns="0" lIns="0" bIns="0" rIns="0">
            <a:spAutoFit/>
          </a:bodyPr>
          <a:lstStyle/>
          <a:p>
            <a:pPr algn="l">
              <a:lnSpc>
                <a:spcPts val="4480"/>
              </a:lnSpc>
              <a:spcBef>
                <a:spcPct val="0"/>
              </a:spcBef>
            </a:pPr>
            <a:r>
              <a:rPr lang="en-US" sz="3200" spc="-128">
                <a:solidFill>
                  <a:srgbClr val="000000"/>
                </a:solidFill>
                <a:latin typeface="Helvetica World"/>
                <a:ea typeface="Helvetica World"/>
                <a:cs typeface="Helvetica World"/>
                <a:sym typeface="Helvetica World"/>
              </a:rPr>
              <a:t>Kehamilan memiliki korelasi tertinggi terhadap Diagnosis (r = 0.59), diikuti G</a:t>
            </a:r>
            <a:r>
              <a:rPr lang="en-US" sz="3200" spc="-128">
                <a:solidFill>
                  <a:srgbClr val="000000"/>
                </a:solidFill>
                <a:latin typeface="Helvetica World"/>
                <a:ea typeface="Helvetica World"/>
                <a:cs typeface="Helvetica World"/>
                <a:sym typeface="Helvetica World"/>
              </a:rPr>
              <a:t>lukosa (r = 0.43), IMT (r = 0.31), lalu Usia (r = 0.07), Tekanan Darah (r = -0.10), dan DPF (r = 0.02) yang sangat lemah.</a:t>
            </a:r>
          </a:p>
          <a:p>
            <a:pPr algn="l">
              <a:lnSpc>
                <a:spcPts val="4480"/>
              </a:lnSpc>
              <a:spcBef>
                <a:spcPct val="0"/>
              </a:spcBef>
            </a:pPr>
            <a:r>
              <a:rPr lang="en-US" sz="3200" spc="-128">
                <a:solidFill>
                  <a:srgbClr val="000000"/>
                </a:solidFill>
                <a:latin typeface="Helvetica World"/>
                <a:ea typeface="Helvetica World"/>
                <a:cs typeface="Helvetica World"/>
                <a:sym typeface="Helvetica World"/>
              </a:rPr>
              <a:t>\</a:t>
            </a:r>
          </a:p>
          <a:p>
            <a:pPr algn="l">
              <a:lnSpc>
                <a:spcPts val="4480"/>
              </a:lnSpc>
              <a:spcBef>
                <a:spcPct val="0"/>
              </a:spcBef>
            </a:pPr>
            <a:r>
              <a:rPr lang="en-US" sz="3200" spc="-128">
                <a:solidFill>
                  <a:srgbClr val="000000"/>
                </a:solidFill>
                <a:latin typeface="Helvetica World"/>
                <a:ea typeface="Helvetica World"/>
                <a:cs typeface="Helvetica World"/>
                <a:sym typeface="Helvetica World"/>
              </a:rPr>
              <a:t>Korelasi antar fitur tertinggi ada di pasangan Glukosa dan Usia sebesar -0.07, artinya tidak ada masalah multikolinearitas.</a:t>
            </a:r>
          </a:p>
          <a:p>
            <a:pPr algn="l">
              <a:lnSpc>
                <a:spcPts val="4480"/>
              </a:lnSpc>
              <a:spcBef>
                <a:spcPct val="0"/>
              </a:spcBef>
            </a:pPr>
          </a:p>
          <a:p>
            <a:pPr algn="l">
              <a:lnSpc>
                <a:spcPts val="448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298944"/>
            <a:ext cx="792133" cy="0"/>
          </a:xfrm>
          <a:prstGeom prst="line">
            <a:avLst/>
          </a:prstGeom>
          <a:ln cap="rnd" w="38100">
            <a:solidFill>
              <a:srgbClr val="000000"/>
            </a:solidFill>
            <a:prstDash val="solid"/>
            <a:headEnd type="none" len="sm" w="sm"/>
            <a:tailEnd type="none" len="sm" w="sm"/>
          </a:ln>
        </p:spPr>
      </p:sp>
      <p:grpSp>
        <p:nvGrpSpPr>
          <p:cNvPr name="Group 3" id="3"/>
          <p:cNvGrpSpPr/>
          <p:nvPr/>
        </p:nvGrpSpPr>
        <p:grpSpPr>
          <a:xfrm rot="0">
            <a:off x="16435318" y="5873687"/>
            <a:ext cx="2751252" cy="27512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5" id="5"/>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6" id="6"/>
          <p:cNvGrpSpPr/>
          <p:nvPr/>
        </p:nvGrpSpPr>
        <p:grpSpPr>
          <a:xfrm rot="0">
            <a:off x="13684066" y="8624939"/>
            <a:ext cx="2751252" cy="27512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8" id="8"/>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Freeform 9" id="9"/>
          <p:cNvSpPr/>
          <p:nvPr/>
        </p:nvSpPr>
        <p:spPr>
          <a:xfrm flipH="false" flipV="false" rot="0">
            <a:off x="5954591" y="2297276"/>
            <a:ext cx="9587281" cy="5692448"/>
          </a:xfrm>
          <a:custGeom>
            <a:avLst/>
            <a:gdLst/>
            <a:ahLst/>
            <a:cxnLst/>
            <a:rect r="r" b="b" t="t" l="l"/>
            <a:pathLst>
              <a:path h="5692448" w="9587281">
                <a:moveTo>
                  <a:pt x="0" y="0"/>
                </a:moveTo>
                <a:lnTo>
                  <a:pt x="9587282" y="0"/>
                </a:lnTo>
                <a:lnTo>
                  <a:pt x="9587282" y="5692448"/>
                </a:lnTo>
                <a:lnTo>
                  <a:pt x="0" y="5692448"/>
                </a:lnTo>
                <a:lnTo>
                  <a:pt x="0" y="0"/>
                </a:lnTo>
                <a:close/>
              </a:path>
            </a:pathLst>
          </a:custGeom>
          <a:blipFill>
            <a:blip r:embed="rId2"/>
            <a:stretch>
              <a:fillRect l="0" t="0" r="0" b="0"/>
            </a:stretch>
          </a:blipFill>
        </p:spPr>
      </p:sp>
      <p:sp>
        <p:nvSpPr>
          <p:cNvPr name="TextBox 10" id="10"/>
          <p:cNvSpPr txBox="true"/>
          <p:nvPr/>
        </p:nvSpPr>
        <p:spPr>
          <a:xfrm rot="0">
            <a:off x="566110" y="364777"/>
            <a:ext cx="11301259" cy="83756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Scatter Plot Glukosa vs BMI</a:t>
            </a:r>
          </a:p>
        </p:txBody>
      </p:sp>
      <p:sp>
        <p:nvSpPr>
          <p:cNvPr name="TextBox 11" id="11"/>
          <p:cNvSpPr txBox="true"/>
          <p:nvPr/>
        </p:nvSpPr>
        <p:spPr>
          <a:xfrm rot="0">
            <a:off x="275031" y="1840517"/>
            <a:ext cx="5243643" cy="7853045"/>
          </a:xfrm>
          <a:prstGeom prst="rect">
            <a:avLst/>
          </a:prstGeom>
        </p:spPr>
        <p:txBody>
          <a:bodyPr anchor="t" rtlCol="false" tIns="0" lIns="0" bIns="0" rIns="0">
            <a:spAutoFit/>
          </a:bodyPr>
          <a:lstStyle/>
          <a:p>
            <a:pPr algn="l">
              <a:lnSpc>
                <a:spcPts val="4480"/>
              </a:lnSpc>
              <a:spcBef>
                <a:spcPct val="0"/>
              </a:spcBef>
            </a:pPr>
            <a:r>
              <a:rPr lang="en-US" sz="3200" spc="-128">
                <a:solidFill>
                  <a:srgbClr val="000000"/>
                </a:solidFill>
                <a:latin typeface="Helvetica World"/>
                <a:ea typeface="Helvetica World"/>
                <a:cs typeface="Helvetica World"/>
                <a:sym typeface="Helvetica World"/>
              </a:rPr>
              <a:t>Titik merah (Diabetes) terkonsentrasi di kuadran kanan atas, yaitu area dengan BMI di atas 30 dan g</a:t>
            </a:r>
            <a:r>
              <a:rPr lang="en-US" sz="3200" spc="-128">
                <a:solidFill>
                  <a:srgbClr val="000000"/>
                </a:solidFill>
                <a:latin typeface="Helvetica World"/>
                <a:ea typeface="Helvetica World"/>
                <a:cs typeface="Helvetica World"/>
                <a:sym typeface="Helvetica World"/>
              </a:rPr>
              <a:t>lukosa di atas 126 mg/dL. Ini memperkuat bahwa kombinasi obesitas dan glukosa tinggi berkaitan erat dengan diagnosis diabetes. Namun ada juga pasien Diabetes dengan BMI rendah dan glukosa sangat tinggi, yang mengindikasikan faktor lain seperti genetik turut berperan</a:t>
            </a:r>
          </a:p>
          <a:p>
            <a:pPr algn="l">
              <a:lnSpc>
                <a:spcPts val="448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298944"/>
            <a:ext cx="792133" cy="0"/>
          </a:xfrm>
          <a:prstGeom prst="line">
            <a:avLst/>
          </a:prstGeom>
          <a:ln cap="rnd" w="38100">
            <a:solidFill>
              <a:srgbClr val="000000"/>
            </a:solidFill>
            <a:prstDash val="solid"/>
            <a:headEnd type="none" len="sm" w="sm"/>
            <a:tailEnd type="none" len="sm" w="sm"/>
          </a:ln>
        </p:spPr>
      </p:sp>
      <p:grpSp>
        <p:nvGrpSpPr>
          <p:cNvPr name="Group 3" id="3"/>
          <p:cNvGrpSpPr/>
          <p:nvPr/>
        </p:nvGrpSpPr>
        <p:grpSpPr>
          <a:xfrm rot="0">
            <a:off x="16435318" y="5873687"/>
            <a:ext cx="2751252" cy="27512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5" id="5"/>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6" id="6"/>
          <p:cNvGrpSpPr/>
          <p:nvPr/>
        </p:nvGrpSpPr>
        <p:grpSpPr>
          <a:xfrm rot="0">
            <a:off x="13684066" y="8624939"/>
            <a:ext cx="2751252" cy="27512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8" id="8"/>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Freeform 9" id="9"/>
          <p:cNvSpPr/>
          <p:nvPr/>
        </p:nvSpPr>
        <p:spPr>
          <a:xfrm flipH="false" flipV="false" rot="0">
            <a:off x="566110" y="2869271"/>
            <a:ext cx="9224761" cy="7131294"/>
          </a:xfrm>
          <a:custGeom>
            <a:avLst/>
            <a:gdLst/>
            <a:ahLst/>
            <a:cxnLst/>
            <a:rect r="r" b="b" t="t" l="l"/>
            <a:pathLst>
              <a:path h="7131294" w="9224761">
                <a:moveTo>
                  <a:pt x="0" y="0"/>
                </a:moveTo>
                <a:lnTo>
                  <a:pt x="9224761" y="0"/>
                </a:lnTo>
                <a:lnTo>
                  <a:pt x="9224761" y="7131294"/>
                </a:lnTo>
                <a:lnTo>
                  <a:pt x="0" y="7131294"/>
                </a:lnTo>
                <a:lnTo>
                  <a:pt x="0" y="0"/>
                </a:lnTo>
                <a:close/>
              </a:path>
            </a:pathLst>
          </a:custGeom>
          <a:blipFill>
            <a:blip r:embed="rId2"/>
            <a:stretch>
              <a:fillRect l="0" t="-933" r="0" b="-933"/>
            </a:stretch>
          </a:blipFill>
        </p:spPr>
      </p:sp>
      <p:sp>
        <p:nvSpPr>
          <p:cNvPr name="TextBox 10" id="10"/>
          <p:cNvSpPr txBox="true"/>
          <p:nvPr/>
        </p:nvSpPr>
        <p:spPr>
          <a:xfrm rot="0">
            <a:off x="566110" y="364777"/>
            <a:ext cx="14493582" cy="154241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Uji Hipotesis 1 — Independent t-Test: Glukosa</a:t>
            </a:r>
          </a:p>
          <a:p>
            <a:pPr algn="l">
              <a:lnSpc>
                <a:spcPts val="5600"/>
              </a:lnSpc>
            </a:pPr>
          </a:p>
        </p:txBody>
      </p:sp>
      <p:sp>
        <p:nvSpPr>
          <p:cNvPr name="TextBox 11" id="11"/>
          <p:cNvSpPr txBox="true"/>
          <p:nvPr/>
        </p:nvSpPr>
        <p:spPr>
          <a:xfrm rot="0">
            <a:off x="566110" y="1530228"/>
            <a:ext cx="12487803" cy="1633160"/>
          </a:xfrm>
          <a:prstGeom prst="rect">
            <a:avLst/>
          </a:prstGeom>
        </p:spPr>
        <p:txBody>
          <a:bodyPr anchor="t" rtlCol="false" tIns="0" lIns="0" bIns="0" rIns="0">
            <a:spAutoFit/>
          </a:bodyPr>
          <a:lstStyle/>
          <a:p>
            <a:pPr algn="l">
              <a:lnSpc>
                <a:spcPts val="3278"/>
              </a:lnSpc>
              <a:spcBef>
                <a:spcPct val="0"/>
              </a:spcBef>
            </a:pPr>
            <a:r>
              <a:rPr lang="en-US" sz="2341" spc="-93">
                <a:solidFill>
                  <a:srgbClr val="000000"/>
                </a:solidFill>
                <a:latin typeface="Helvetica World"/>
                <a:ea typeface="Helvetica World"/>
                <a:cs typeface="Helvetica World"/>
                <a:sym typeface="Helvetica World"/>
              </a:rPr>
              <a:t>H0: Rata-rata glukosa pasien Diabetes sama dengan rata-rata g</a:t>
            </a:r>
            <a:r>
              <a:rPr lang="en-US" sz="2341" spc="-93">
                <a:solidFill>
                  <a:srgbClr val="000000"/>
                </a:solidFill>
                <a:latin typeface="Helvetica World"/>
                <a:ea typeface="Helvetica World"/>
                <a:cs typeface="Helvetica World"/>
                <a:sym typeface="Helvetica World"/>
              </a:rPr>
              <a:t>lukosa pasien Tidak Diabetes.</a:t>
            </a:r>
          </a:p>
          <a:p>
            <a:pPr algn="l">
              <a:lnSpc>
                <a:spcPts val="3278"/>
              </a:lnSpc>
              <a:spcBef>
                <a:spcPct val="0"/>
              </a:spcBef>
            </a:pPr>
            <a:r>
              <a:rPr lang="en-US" sz="2341" spc="-93">
                <a:solidFill>
                  <a:srgbClr val="000000"/>
                </a:solidFill>
                <a:latin typeface="Helvetica World"/>
                <a:ea typeface="Helvetica World"/>
                <a:cs typeface="Helvetica World"/>
                <a:sym typeface="Helvetica World"/>
              </a:rPr>
              <a:t>H1: Rata-rata glukosa pasien Diabetes berbeda secara signifikan dari pasien Tidak Diabetes.</a:t>
            </a:r>
          </a:p>
          <a:p>
            <a:pPr algn="l">
              <a:lnSpc>
                <a:spcPts val="3278"/>
              </a:lnSpc>
              <a:spcBef>
                <a:spcPct val="0"/>
              </a:spcBef>
            </a:pPr>
            <a:r>
              <a:rPr lang="en-US" sz="2341" spc="-93">
                <a:solidFill>
                  <a:srgbClr val="000000"/>
                </a:solidFill>
                <a:latin typeface="Helvetica World"/>
                <a:ea typeface="Helvetica World"/>
                <a:cs typeface="Helvetica World"/>
                <a:sym typeface="Helvetica World"/>
              </a:rPr>
              <a:t>Tingkat signifikansi: alpha = 0.05</a:t>
            </a:r>
          </a:p>
          <a:p>
            <a:pPr algn="l">
              <a:lnSpc>
                <a:spcPts val="3278"/>
              </a:lnSpc>
              <a:spcBef>
                <a:spcPct val="0"/>
              </a:spcBef>
            </a:pPr>
          </a:p>
        </p:txBody>
      </p:sp>
      <p:sp>
        <p:nvSpPr>
          <p:cNvPr name="TextBox 12" id="12"/>
          <p:cNvSpPr txBox="true"/>
          <p:nvPr/>
        </p:nvSpPr>
        <p:spPr>
          <a:xfrm rot="0">
            <a:off x="10415968" y="4884517"/>
            <a:ext cx="5761773" cy="3566353"/>
          </a:xfrm>
          <a:prstGeom prst="rect">
            <a:avLst/>
          </a:prstGeom>
        </p:spPr>
        <p:txBody>
          <a:bodyPr anchor="t" rtlCol="false" tIns="0" lIns="0" bIns="0" rIns="0">
            <a:spAutoFit/>
          </a:bodyPr>
          <a:lstStyle/>
          <a:p>
            <a:pPr algn="l">
              <a:lnSpc>
                <a:spcPts val="3561"/>
              </a:lnSpc>
              <a:spcBef>
                <a:spcPct val="0"/>
              </a:spcBef>
            </a:pPr>
            <a:r>
              <a:rPr lang="en-US" sz="2543" spc="-101">
                <a:solidFill>
                  <a:srgbClr val="000000"/>
                </a:solidFill>
                <a:latin typeface="Helvetica World"/>
                <a:ea typeface="Helvetica World"/>
                <a:cs typeface="Helvetica World"/>
                <a:sym typeface="Helvetica World"/>
              </a:rPr>
              <a:t>Hasil uji t menghasilkan t = -13.0028 dengan p-va</a:t>
            </a:r>
            <a:r>
              <a:rPr lang="en-US" sz="2543" spc="-101">
                <a:solidFill>
                  <a:srgbClr val="000000"/>
                </a:solidFill>
                <a:latin typeface="Helvetica World"/>
                <a:ea typeface="Helvetica World"/>
                <a:cs typeface="Helvetica World"/>
                <a:sym typeface="Helvetica World"/>
              </a:rPr>
              <a:t>lue = 4.51e-35, jauh di bawah alpha 0.05. H0 ditolak. Terdapat perbedaan rata-rata glukosa yang sangat signifikan secara statistik antara pasien Diabetes (137.58 mg/dL, std = 28.75) dan Tidak Diabetes (110.58 mg/dL, std = 26.70). </a:t>
            </a:r>
          </a:p>
          <a:p>
            <a:pPr algn="l">
              <a:lnSpc>
                <a:spcPts val="3561"/>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298944"/>
            <a:ext cx="792133" cy="0"/>
          </a:xfrm>
          <a:prstGeom prst="line">
            <a:avLst/>
          </a:prstGeom>
          <a:ln cap="rnd" w="38100">
            <a:solidFill>
              <a:srgbClr val="000000"/>
            </a:solidFill>
            <a:prstDash val="solid"/>
            <a:headEnd type="none" len="sm" w="sm"/>
            <a:tailEnd type="none" len="sm" w="sm"/>
          </a:ln>
        </p:spPr>
      </p:sp>
      <p:grpSp>
        <p:nvGrpSpPr>
          <p:cNvPr name="Group 3" id="3"/>
          <p:cNvGrpSpPr/>
          <p:nvPr/>
        </p:nvGrpSpPr>
        <p:grpSpPr>
          <a:xfrm rot="0">
            <a:off x="16435318" y="5873687"/>
            <a:ext cx="2751252" cy="27512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5" id="5"/>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6" id="6"/>
          <p:cNvGrpSpPr/>
          <p:nvPr/>
        </p:nvGrpSpPr>
        <p:grpSpPr>
          <a:xfrm rot="0">
            <a:off x="13684066" y="8624939"/>
            <a:ext cx="2751252" cy="27512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8" id="8"/>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Freeform 9" id="9"/>
          <p:cNvSpPr/>
          <p:nvPr/>
        </p:nvSpPr>
        <p:spPr>
          <a:xfrm flipH="false" flipV="false" rot="0">
            <a:off x="9144000" y="2760679"/>
            <a:ext cx="7044156" cy="5864260"/>
          </a:xfrm>
          <a:custGeom>
            <a:avLst/>
            <a:gdLst/>
            <a:ahLst/>
            <a:cxnLst/>
            <a:rect r="r" b="b" t="t" l="l"/>
            <a:pathLst>
              <a:path h="5864260" w="7044156">
                <a:moveTo>
                  <a:pt x="0" y="0"/>
                </a:moveTo>
                <a:lnTo>
                  <a:pt x="7044156" y="0"/>
                </a:lnTo>
                <a:lnTo>
                  <a:pt x="7044156" y="5864260"/>
                </a:lnTo>
                <a:lnTo>
                  <a:pt x="0" y="5864260"/>
                </a:lnTo>
                <a:lnTo>
                  <a:pt x="0" y="0"/>
                </a:lnTo>
                <a:close/>
              </a:path>
            </a:pathLst>
          </a:custGeom>
          <a:blipFill>
            <a:blip r:embed="rId2"/>
            <a:stretch>
              <a:fillRect l="0" t="0" r="0" b="0"/>
            </a:stretch>
          </a:blipFill>
        </p:spPr>
      </p:sp>
      <p:sp>
        <p:nvSpPr>
          <p:cNvPr name="TextBox 10" id="10"/>
          <p:cNvSpPr txBox="true"/>
          <p:nvPr/>
        </p:nvSpPr>
        <p:spPr>
          <a:xfrm rot="0">
            <a:off x="566110" y="364777"/>
            <a:ext cx="13117956" cy="83756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Uji Hipotesis 2 - Independent t-test: BMI</a:t>
            </a:r>
          </a:p>
        </p:txBody>
      </p:sp>
      <p:sp>
        <p:nvSpPr>
          <p:cNvPr name="TextBox 11" id="11"/>
          <p:cNvSpPr txBox="true"/>
          <p:nvPr/>
        </p:nvSpPr>
        <p:spPr>
          <a:xfrm rot="0">
            <a:off x="566110" y="1337044"/>
            <a:ext cx="12409214" cy="2324094"/>
          </a:xfrm>
          <a:prstGeom prst="rect">
            <a:avLst/>
          </a:prstGeom>
        </p:spPr>
        <p:txBody>
          <a:bodyPr anchor="t" rtlCol="false" tIns="0" lIns="0" bIns="0" rIns="0">
            <a:spAutoFit/>
          </a:bodyPr>
          <a:lstStyle/>
          <a:p>
            <a:pPr algn="l">
              <a:lnSpc>
                <a:spcPts val="3675"/>
              </a:lnSpc>
              <a:spcBef>
                <a:spcPct val="0"/>
              </a:spcBef>
            </a:pPr>
            <a:r>
              <a:rPr lang="en-US" sz="2625" spc="-28">
                <a:solidFill>
                  <a:srgbClr val="000000"/>
                </a:solidFill>
                <a:latin typeface="Helvetica World"/>
                <a:ea typeface="Helvetica World"/>
                <a:cs typeface="Helvetica World"/>
                <a:sym typeface="Helvetica World"/>
              </a:rPr>
              <a:t>H0: Rata-rata BMI pasien D</a:t>
            </a:r>
            <a:r>
              <a:rPr lang="en-US" sz="2625" spc="-28">
                <a:solidFill>
                  <a:srgbClr val="000000"/>
                </a:solidFill>
                <a:latin typeface="Helvetica World"/>
                <a:ea typeface="Helvetica World"/>
                <a:cs typeface="Helvetica World"/>
                <a:sym typeface="Helvetica World"/>
              </a:rPr>
              <a:t>iabetes sama dengan rata-rata BMI pasien Tidak Diabetes.</a:t>
            </a:r>
          </a:p>
          <a:p>
            <a:pPr algn="l">
              <a:lnSpc>
                <a:spcPts val="3675"/>
              </a:lnSpc>
              <a:spcBef>
                <a:spcPct val="0"/>
              </a:spcBef>
            </a:pPr>
            <a:r>
              <a:rPr lang="en-US" sz="2625" spc="-28">
                <a:solidFill>
                  <a:srgbClr val="000000"/>
                </a:solidFill>
                <a:latin typeface="Helvetica World"/>
                <a:ea typeface="Helvetica World"/>
                <a:cs typeface="Helvetica World"/>
                <a:sym typeface="Helvetica World"/>
              </a:rPr>
              <a:t>H1: Rata-rata BMI pasien Diabetes berbeda secara signifikan dari pasien Tidak Diabetes.</a:t>
            </a:r>
          </a:p>
          <a:p>
            <a:pPr algn="l">
              <a:lnSpc>
                <a:spcPts val="3675"/>
              </a:lnSpc>
              <a:spcBef>
                <a:spcPct val="0"/>
              </a:spcBef>
            </a:pPr>
            <a:r>
              <a:rPr lang="en-US" sz="2625" spc="-28">
                <a:solidFill>
                  <a:srgbClr val="000000"/>
                </a:solidFill>
                <a:latin typeface="Helvetica World"/>
                <a:ea typeface="Helvetica World"/>
                <a:cs typeface="Helvetica World"/>
                <a:sym typeface="Helvetica World"/>
              </a:rPr>
              <a:t>Tingkat signifikansi: alpha = 0.05</a:t>
            </a:r>
          </a:p>
          <a:p>
            <a:pPr algn="l">
              <a:lnSpc>
                <a:spcPts val="3675"/>
              </a:lnSpc>
              <a:spcBef>
                <a:spcPct val="0"/>
              </a:spcBef>
            </a:pPr>
          </a:p>
        </p:txBody>
      </p:sp>
      <p:sp>
        <p:nvSpPr>
          <p:cNvPr name="TextBox 12" id="12"/>
          <p:cNvSpPr txBox="true"/>
          <p:nvPr/>
        </p:nvSpPr>
        <p:spPr>
          <a:xfrm rot="0">
            <a:off x="747130" y="3858199"/>
            <a:ext cx="5511861" cy="2324094"/>
          </a:xfrm>
          <a:prstGeom prst="rect">
            <a:avLst/>
          </a:prstGeom>
        </p:spPr>
        <p:txBody>
          <a:bodyPr anchor="t" rtlCol="false" tIns="0" lIns="0" bIns="0" rIns="0">
            <a:spAutoFit/>
          </a:bodyPr>
          <a:lstStyle/>
          <a:p>
            <a:pPr algn="l">
              <a:lnSpc>
                <a:spcPts val="3675"/>
              </a:lnSpc>
              <a:spcBef>
                <a:spcPct val="0"/>
              </a:spcBef>
            </a:pPr>
            <a:r>
              <a:rPr lang="en-US" sz="2625" spc="52">
                <a:solidFill>
                  <a:srgbClr val="000000"/>
                </a:solidFill>
                <a:latin typeface="Helvetica World"/>
                <a:ea typeface="Helvetica World"/>
                <a:cs typeface="Helvetica World"/>
                <a:sym typeface="Helvetica World"/>
              </a:rPr>
              <a:t> Perbedaan sekitar 5 poin BMI in</a:t>
            </a:r>
            <a:r>
              <a:rPr lang="en-US" sz="2625" spc="52">
                <a:solidFill>
                  <a:srgbClr val="000000"/>
                </a:solidFill>
                <a:latin typeface="Helvetica World"/>
                <a:ea typeface="Helvetica World"/>
                <a:cs typeface="Helvetica World"/>
                <a:sym typeface="Helvetica World"/>
              </a:rPr>
              <a:t>i signifikan secara klinis dan statistik, mengonfirmasi obesitas sebagai faktor risiko nyata dalam dataset ini.</a:t>
            </a:r>
          </a:p>
          <a:p>
            <a:pPr algn="l">
              <a:lnSpc>
                <a:spcPts val="3675"/>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298944"/>
            <a:ext cx="792133" cy="0"/>
          </a:xfrm>
          <a:prstGeom prst="line">
            <a:avLst/>
          </a:prstGeom>
          <a:ln cap="rnd" w="38100">
            <a:solidFill>
              <a:srgbClr val="000000"/>
            </a:solidFill>
            <a:prstDash val="solid"/>
            <a:headEnd type="none" len="sm" w="sm"/>
            <a:tailEnd type="none" len="sm" w="sm"/>
          </a:ln>
        </p:spPr>
      </p:sp>
      <p:grpSp>
        <p:nvGrpSpPr>
          <p:cNvPr name="Group 3" id="3"/>
          <p:cNvGrpSpPr/>
          <p:nvPr/>
        </p:nvGrpSpPr>
        <p:grpSpPr>
          <a:xfrm rot="0">
            <a:off x="16435318" y="5873687"/>
            <a:ext cx="2751252" cy="27512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5" id="5"/>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6" id="6"/>
          <p:cNvGrpSpPr/>
          <p:nvPr/>
        </p:nvGrpSpPr>
        <p:grpSpPr>
          <a:xfrm rot="0">
            <a:off x="13684066" y="8624939"/>
            <a:ext cx="2751252" cy="27512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8" id="8"/>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Freeform 9" id="9"/>
          <p:cNvSpPr/>
          <p:nvPr/>
        </p:nvSpPr>
        <p:spPr>
          <a:xfrm flipH="false" flipV="false" rot="0">
            <a:off x="6986741" y="2451626"/>
            <a:ext cx="11301259" cy="6173313"/>
          </a:xfrm>
          <a:custGeom>
            <a:avLst/>
            <a:gdLst/>
            <a:ahLst/>
            <a:cxnLst/>
            <a:rect r="r" b="b" t="t" l="l"/>
            <a:pathLst>
              <a:path h="6173313" w="11301259">
                <a:moveTo>
                  <a:pt x="0" y="0"/>
                </a:moveTo>
                <a:lnTo>
                  <a:pt x="11301259" y="0"/>
                </a:lnTo>
                <a:lnTo>
                  <a:pt x="11301259" y="6173313"/>
                </a:lnTo>
                <a:lnTo>
                  <a:pt x="0" y="6173313"/>
                </a:lnTo>
                <a:lnTo>
                  <a:pt x="0" y="0"/>
                </a:lnTo>
                <a:close/>
              </a:path>
            </a:pathLst>
          </a:custGeom>
          <a:blipFill>
            <a:blip r:embed="rId2"/>
            <a:stretch>
              <a:fillRect l="0" t="0" r="0" b="0"/>
            </a:stretch>
          </a:blipFill>
        </p:spPr>
      </p:sp>
      <p:sp>
        <p:nvSpPr>
          <p:cNvPr name="TextBox 10" id="10"/>
          <p:cNvSpPr txBox="true"/>
          <p:nvPr/>
        </p:nvSpPr>
        <p:spPr>
          <a:xfrm rot="0">
            <a:off x="566110" y="364777"/>
            <a:ext cx="11301259" cy="83756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Korelasi Pearson</a:t>
            </a:r>
          </a:p>
        </p:txBody>
      </p:sp>
      <p:sp>
        <p:nvSpPr>
          <p:cNvPr name="TextBox 11" id="11"/>
          <p:cNvSpPr txBox="true"/>
          <p:nvPr/>
        </p:nvSpPr>
        <p:spPr>
          <a:xfrm rot="0">
            <a:off x="275031" y="1840517"/>
            <a:ext cx="6445671" cy="8415020"/>
          </a:xfrm>
          <a:prstGeom prst="rect">
            <a:avLst/>
          </a:prstGeom>
        </p:spPr>
        <p:txBody>
          <a:bodyPr anchor="t" rtlCol="false" tIns="0" lIns="0" bIns="0" rIns="0">
            <a:spAutoFit/>
          </a:bodyPr>
          <a:lstStyle/>
          <a:p>
            <a:pPr algn="l">
              <a:lnSpc>
                <a:spcPts val="4480"/>
              </a:lnSpc>
              <a:spcBef>
                <a:spcPct val="0"/>
              </a:spcBef>
            </a:pPr>
            <a:r>
              <a:rPr lang="en-US" sz="3200" spc="-128">
                <a:solidFill>
                  <a:srgbClr val="000000"/>
                </a:solidFill>
                <a:latin typeface="Helvetica World"/>
                <a:ea typeface="Helvetica World"/>
                <a:cs typeface="Helvetica World"/>
                <a:sym typeface="Helvetica World"/>
              </a:rPr>
              <a:t>Kehamilan memiliki korelasi Pearson tertinggi terhadap Outcome (r = 0.5929), diikuti G</a:t>
            </a:r>
            <a:r>
              <a:rPr lang="en-US" sz="3200" spc="-128">
                <a:solidFill>
                  <a:srgbClr val="000000"/>
                </a:solidFill>
                <a:latin typeface="Helvetica World"/>
                <a:ea typeface="Helvetica World"/>
                <a:cs typeface="Helvetica World"/>
                <a:sym typeface="Helvetica World"/>
              </a:rPr>
              <a:t>lukosa (r = 0.4252) dan IMT (r = 0.3096). Tekanan Darah berkorelasi negatif sangat lemah (r = -0.0961), sedangkan Usia (r = 0.0682) dan DPF (r = 0.0209) hampir tidak berkorelasi.</a:t>
            </a:r>
          </a:p>
          <a:p>
            <a:pPr algn="l">
              <a:lnSpc>
                <a:spcPts val="4480"/>
              </a:lnSpc>
              <a:spcBef>
                <a:spcPct val="0"/>
              </a:spcBef>
            </a:pPr>
          </a:p>
          <a:p>
            <a:pPr algn="l">
              <a:lnSpc>
                <a:spcPts val="4480"/>
              </a:lnSpc>
              <a:spcBef>
                <a:spcPct val="0"/>
              </a:spcBef>
            </a:pPr>
            <a:r>
              <a:rPr lang="en-US" sz="3200" spc="-128">
                <a:solidFill>
                  <a:srgbClr val="000000"/>
                </a:solidFill>
                <a:latin typeface="Helvetica World"/>
                <a:ea typeface="Helvetica World"/>
                <a:cs typeface="Helvetica World"/>
                <a:sym typeface="Helvetica World"/>
              </a:rPr>
              <a:t>Nilai korelasi yang jauh dari 1 pada semua pasangan menunjukkan tidak ada hubungan linear sempurna, sehingga diagnosis diabetes tidak bisa dijelaskan oleh satu variabel saja</a:t>
            </a:r>
          </a:p>
          <a:p>
            <a:pPr algn="l">
              <a:lnSpc>
                <a:spcPts val="448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AE8"/>
        </a:solidFill>
      </p:bgPr>
    </p:bg>
    <p:spTree>
      <p:nvGrpSpPr>
        <p:cNvPr id="1" name=""/>
        <p:cNvGrpSpPr/>
        <p:nvPr/>
      </p:nvGrpSpPr>
      <p:grpSpPr>
        <a:xfrm>
          <a:off x="0" y="0"/>
          <a:ext cx="0" cy="0"/>
          <a:chOff x="0" y="0"/>
          <a:chExt cx="0" cy="0"/>
        </a:xfrm>
      </p:grpSpPr>
      <p:sp>
        <p:nvSpPr>
          <p:cNvPr name="AutoShape 2" id="2"/>
          <p:cNvSpPr/>
          <p:nvPr/>
        </p:nvSpPr>
        <p:spPr>
          <a:xfrm>
            <a:off x="566110" y="1298944"/>
            <a:ext cx="792133" cy="0"/>
          </a:xfrm>
          <a:prstGeom prst="line">
            <a:avLst/>
          </a:prstGeom>
          <a:ln cap="rnd" w="38100">
            <a:solidFill>
              <a:srgbClr val="000000"/>
            </a:solidFill>
            <a:prstDash val="solid"/>
            <a:headEnd type="none" len="sm" w="sm"/>
            <a:tailEnd type="none" len="sm" w="sm"/>
          </a:ln>
        </p:spPr>
      </p:sp>
      <p:grpSp>
        <p:nvGrpSpPr>
          <p:cNvPr name="Group 3" id="3"/>
          <p:cNvGrpSpPr/>
          <p:nvPr/>
        </p:nvGrpSpPr>
        <p:grpSpPr>
          <a:xfrm rot="0">
            <a:off x="16435318" y="5873687"/>
            <a:ext cx="2751252" cy="27512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5" id="5"/>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grpSp>
        <p:nvGrpSpPr>
          <p:cNvPr name="Group 6" id="6"/>
          <p:cNvGrpSpPr/>
          <p:nvPr/>
        </p:nvGrpSpPr>
        <p:grpSpPr>
          <a:xfrm rot="0">
            <a:off x="13684066" y="8624939"/>
            <a:ext cx="2751252" cy="275125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C07A35"/>
            </a:solidFill>
          </p:spPr>
        </p:sp>
        <p:sp>
          <p:nvSpPr>
            <p:cNvPr name="TextBox 8" id="8"/>
            <p:cNvSpPr txBox="true"/>
            <p:nvPr/>
          </p:nvSpPr>
          <p:spPr>
            <a:xfrm>
              <a:off x="0" y="47625"/>
              <a:ext cx="812800" cy="765175"/>
            </a:xfrm>
            <a:prstGeom prst="rect">
              <a:avLst/>
            </a:prstGeom>
          </p:spPr>
          <p:txBody>
            <a:bodyPr anchor="ctr" rtlCol="false" tIns="50800" lIns="50800" bIns="50800" rIns="50800"/>
            <a:lstStyle/>
            <a:p>
              <a:pPr algn="ctr">
                <a:lnSpc>
                  <a:spcPts val="3200"/>
                </a:lnSpc>
              </a:pPr>
            </a:p>
          </p:txBody>
        </p:sp>
      </p:grpSp>
      <p:sp>
        <p:nvSpPr>
          <p:cNvPr name="Freeform 9" id="9"/>
          <p:cNvSpPr/>
          <p:nvPr/>
        </p:nvSpPr>
        <p:spPr>
          <a:xfrm flipH="false" flipV="false" rot="0">
            <a:off x="566110" y="1455403"/>
            <a:ext cx="8245667" cy="8413946"/>
          </a:xfrm>
          <a:custGeom>
            <a:avLst/>
            <a:gdLst/>
            <a:ahLst/>
            <a:cxnLst/>
            <a:rect r="r" b="b" t="t" l="l"/>
            <a:pathLst>
              <a:path h="8413946" w="8245667">
                <a:moveTo>
                  <a:pt x="0" y="0"/>
                </a:moveTo>
                <a:lnTo>
                  <a:pt x="8245667" y="0"/>
                </a:lnTo>
                <a:lnTo>
                  <a:pt x="8245667" y="8413946"/>
                </a:lnTo>
                <a:lnTo>
                  <a:pt x="0" y="8413946"/>
                </a:lnTo>
                <a:lnTo>
                  <a:pt x="0" y="0"/>
                </a:lnTo>
                <a:close/>
              </a:path>
            </a:pathLst>
          </a:custGeom>
          <a:blipFill>
            <a:blip r:embed="rId2"/>
            <a:stretch>
              <a:fillRect l="0" t="0" r="0" b="0"/>
            </a:stretch>
          </a:blipFill>
        </p:spPr>
      </p:sp>
      <p:sp>
        <p:nvSpPr>
          <p:cNvPr name="TextBox 10" id="10"/>
          <p:cNvSpPr txBox="true"/>
          <p:nvPr/>
        </p:nvSpPr>
        <p:spPr>
          <a:xfrm rot="0">
            <a:off x="566110" y="364777"/>
            <a:ext cx="11301259" cy="837565"/>
          </a:xfrm>
          <a:prstGeom prst="rect">
            <a:avLst/>
          </a:prstGeom>
        </p:spPr>
        <p:txBody>
          <a:bodyPr anchor="t" rtlCol="false" tIns="0" lIns="0" bIns="0" rIns="0">
            <a:spAutoFit/>
          </a:bodyPr>
          <a:lstStyle/>
          <a:p>
            <a:pPr algn="l">
              <a:lnSpc>
                <a:spcPts val="5600"/>
              </a:lnSpc>
            </a:pPr>
            <a:r>
              <a:rPr lang="en-US" sz="5600" spc="-336" b="true">
                <a:solidFill>
                  <a:srgbClr val="C07A35"/>
                </a:solidFill>
                <a:latin typeface="Helvetica World Bold"/>
                <a:ea typeface="Helvetica World Bold"/>
                <a:cs typeface="Helvetica World Bold"/>
                <a:sym typeface="Helvetica World Bold"/>
              </a:rPr>
              <a:t>Chi Square : Kategorikal vs Diagnosis</a:t>
            </a:r>
          </a:p>
        </p:txBody>
      </p:sp>
      <p:sp>
        <p:nvSpPr>
          <p:cNvPr name="TextBox 11" id="11"/>
          <p:cNvSpPr txBox="true"/>
          <p:nvPr/>
        </p:nvSpPr>
        <p:spPr>
          <a:xfrm rot="0">
            <a:off x="9503112" y="2064396"/>
            <a:ext cx="6932206" cy="5641340"/>
          </a:xfrm>
          <a:prstGeom prst="rect">
            <a:avLst/>
          </a:prstGeom>
        </p:spPr>
        <p:txBody>
          <a:bodyPr anchor="t" rtlCol="false" tIns="0" lIns="0" bIns="0" rIns="0">
            <a:spAutoFit/>
          </a:bodyPr>
          <a:lstStyle/>
          <a:p>
            <a:pPr algn="l">
              <a:lnSpc>
                <a:spcPts val="4060"/>
              </a:lnSpc>
              <a:spcBef>
                <a:spcPct val="0"/>
              </a:spcBef>
            </a:pPr>
            <a:r>
              <a:rPr lang="en-US" sz="2900" spc="-116">
                <a:solidFill>
                  <a:srgbClr val="000000"/>
                </a:solidFill>
                <a:latin typeface="Helvetica World"/>
                <a:ea typeface="Helvetica World"/>
                <a:cs typeface="Helvetica World"/>
                <a:sym typeface="Helvetica World"/>
              </a:rPr>
              <a:t>Uji Chi-Square Kategori BMI vs Diagnosis menghasilkan chi2 = 46.8831 dengan p = 3.68e-10 (dof = 3). Nilai p jauh di bawah 0.05, artinya ada hubungan yang signifikan secara statistik antara kategori BMI dan diagnosis. </a:t>
            </a:r>
          </a:p>
          <a:p>
            <a:pPr algn="l">
              <a:lnSpc>
                <a:spcPts val="4060"/>
              </a:lnSpc>
              <a:spcBef>
                <a:spcPct val="0"/>
              </a:spcBef>
            </a:pPr>
          </a:p>
          <a:p>
            <a:pPr algn="l">
              <a:lnSpc>
                <a:spcPts val="4060"/>
              </a:lnSpc>
              <a:spcBef>
                <a:spcPct val="0"/>
              </a:spcBef>
            </a:pPr>
            <a:r>
              <a:rPr lang="en-US" sz="2900" spc="-116">
                <a:solidFill>
                  <a:srgbClr val="000000"/>
                </a:solidFill>
                <a:latin typeface="Helvetica World"/>
                <a:ea typeface="Helvetica World"/>
                <a:cs typeface="Helvetica World"/>
                <a:sym typeface="Helvetica World"/>
              </a:rPr>
              <a:t>Uji Chi-Square Kelompok Usia vs Diagnosis menghasilkan chi2 = 3.9348 dengan p = 0.4149 (dof = 4). Nilai p di atas 0.05, artinya tidak ada hubungan yang signifikan secara statistik antara kelompok usia dan diagnosis.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EBEAE8"/>
        </a:solidFill>
      </p:bgPr>
    </p:bg>
    <p:spTree>
      <p:nvGrpSpPr>
        <p:cNvPr id="1" name=""/>
        <p:cNvGrpSpPr/>
        <p:nvPr/>
      </p:nvGrpSpPr>
      <p:grpSpPr>
        <a:xfrm>
          <a:off x="0" y="0"/>
          <a:ext cx="0" cy="0"/>
          <a:chOff x="0" y="0"/>
          <a:chExt cx="0" cy="0"/>
        </a:xfrm>
      </p:grpSpPr>
      <p:sp>
        <p:nvSpPr>
          <p:cNvPr name="TextBox 2" id="2"/>
          <p:cNvSpPr txBox="true"/>
          <p:nvPr/>
        </p:nvSpPr>
        <p:spPr>
          <a:xfrm rot="0">
            <a:off x="335477" y="238782"/>
            <a:ext cx="8115300" cy="2170467"/>
          </a:xfrm>
          <a:prstGeom prst="rect">
            <a:avLst/>
          </a:prstGeom>
        </p:spPr>
        <p:txBody>
          <a:bodyPr anchor="t" rtlCol="false" tIns="0" lIns="0" bIns="0" rIns="0">
            <a:spAutoFit/>
          </a:bodyPr>
          <a:lstStyle/>
          <a:p>
            <a:pPr algn="ctr">
              <a:lnSpc>
                <a:spcPts val="14201"/>
              </a:lnSpc>
            </a:pPr>
            <a:r>
              <a:rPr lang="en-US" sz="14201" i="true" spc="-852">
                <a:solidFill>
                  <a:srgbClr val="000000"/>
                </a:solidFill>
                <a:latin typeface="Times New Roman MT Condensed Italics"/>
                <a:ea typeface="Times New Roman MT Condensed Italics"/>
                <a:cs typeface="Times New Roman MT Condensed Italics"/>
                <a:sym typeface="Times New Roman MT Condensed Italics"/>
              </a:rPr>
              <a:t>conclution</a:t>
            </a:r>
          </a:p>
        </p:txBody>
      </p:sp>
      <p:sp>
        <p:nvSpPr>
          <p:cNvPr name="AutoShape 3" id="3"/>
          <p:cNvSpPr/>
          <p:nvPr/>
        </p:nvSpPr>
        <p:spPr>
          <a:xfrm flipV="true">
            <a:off x="3325128" y="2043611"/>
            <a:ext cx="1607323" cy="0"/>
          </a:xfrm>
          <a:prstGeom prst="line">
            <a:avLst/>
          </a:prstGeom>
          <a:ln cap="rnd" w="38100">
            <a:solidFill>
              <a:srgbClr val="C07A35"/>
            </a:solidFill>
            <a:prstDash val="solid"/>
            <a:headEnd type="none" len="sm" w="sm"/>
            <a:tailEnd type="none" len="sm" w="sm"/>
          </a:ln>
        </p:spPr>
      </p:sp>
      <p:sp>
        <p:nvSpPr>
          <p:cNvPr name="TextBox 4" id="4"/>
          <p:cNvSpPr txBox="true"/>
          <p:nvPr/>
        </p:nvSpPr>
        <p:spPr>
          <a:xfrm rot="0">
            <a:off x="607436" y="2632073"/>
            <a:ext cx="15046880" cy="2511427"/>
          </a:xfrm>
          <a:prstGeom prst="rect">
            <a:avLst/>
          </a:prstGeom>
        </p:spPr>
        <p:txBody>
          <a:bodyPr anchor="t" rtlCol="false" tIns="0" lIns="0" bIns="0" rIns="0">
            <a:spAutoFit/>
          </a:bodyPr>
          <a:lstStyle/>
          <a:p>
            <a:pPr algn="l" marL="669304" indent="-334652" lvl="1">
              <a:lnSpc>
                <a:spcPts val="3100"/>
              </a:lnSpc>
              <a:buFont typeface="Arial"/>
              <a:buChar char="•"/>
            </a:pPr>
            <a:r>
              <a:rPr lang="en-US" b="true" sz="3100" spc="-186">
                <a:solidFill>
                  <a:srgbClr val="C07A35"/>
                </a:solidFill>
                <a:latin typeface="Helvetica World Bold"/>
                <a:ea typeface="Helvetica World Bold"/>
                <a:cs typeface="Helvetica World Bold"/>
                <a:sym typeface="Helvetica World Bold"/>
              </a:rPr>
              <a:t>Glukosa adalah faktor penentu utama.</a:t>
            </a:r>
          </a:p>
          <a:p>
            <a:pPr algn="l">
              <a:lnSpc>
                <a:spcPts val="3100"/>
              </a:lnSpc>
            </a:pPr>
          </a:p>
          <a:p>
            <a:pPr algn="l" marL="669304" indent="-334652" lvl="1">
              <a:lnSpc>
                <a:spcPts val="3100"/>
              </a:lnSpc>
              <a:buFont typeface="Arial"/>
              <a:buChar char="•"/>
            </a:pPr>
            <a:r>
              <a:rPr lang="en-US" b="true" sz="3100" spc="-186">
                <a:solidFill>
                  <a:srgbClr val="C07A35"/>
                </a:solidFill>
                <a:latin typeface="Helvetica World Bold"/>
                <a:ea typeface="Helvetica World Bold"/>
                <a:cs typeface="Helvetica World Bold"/>
                <a:sym typeface="Helvetica World Bold"/>
              </a:rPr>
              <a:t>BMI t</a:t>
            </a:r>
            <a:r>
              <a:rPr lang="en-US" b="true" sz="3100" spc="-186">
                <a:solidFill>
                  <a:srgbClr val="C07A35"/>
                </a:solidFill>
                <a:latin typeface="Helvetica World Bold"/>
                <a:ea typeface="Helvetica World Bold"/>
                <a:cs typeface="Helvetica World Bold"/>
                <a:sym typeface="Helvetica World Bold"/>
              </a:rPr>
              <a:t>erbukti signifikan secara statistik maupun klinis</a:t>
            </a:r>
          </a:p>
          <a:p>
            <a:pPr algn="l">
              <a:lnSpc>
                <a:spcPts val="3100"/>
              </a:lnSpc>
            </a:pPr>
          </a:p>
          <a:p>
            <a:pPr algn="l" marL="669304" indent="-334652" lvl="1">
              <a:lnSpc>
                <a:spcPts val="3100"/>
              </a:lnSpc>
              <a:buFont typeface="Arial"/>
              <a:buChar char="•"/>
            </a:pPr>
            <a:r>
              <a:rPr lang="en-US" b="true" sz="3100" spc="-186">
                <a:solidFill>
                  <a:srgbClr val="C07A35"/>
                </a:solidFill>
                <a:latin typeface="Helvetica World Bold"/>
                <a:ea typeface="Helvetica World Bold"/>
                <a:cs typeface="Helvetica World Bold"/>
                <a:sym typeface="Helvetica World Bold"/>
              </a:rPr>
              <a:t>Usia </a:t>
            </a:r>
            <a:r>
              <a:rPr lang="en-US" b="true" sz="3100" spc="-186">
                <a:solidFill>
                  <a:srgbClr val="C07A35"/>
                </a:solidFill>
                <a:latin typeface="Helvetica World Bold"/>
                <a:ea typeface="Helvetica World Bold"/>
                <a:cs typeface="Helvetica World Bold"/>
                <a:sym typeface="Helvetica World Bold"/>
              </a:rPr>
              <a:t>dan Kelompok Usia tidak terbukti memiliki hubungan signifikan dengan diagnosis</a:t>
            </a:r>
          </a:p>
          <a:p>
            <a:pPr algn="l">
              <a:lnSpc>
                <a:spcPts val="3100"/>
              </a:lnSpc>
            </a:pPr>
          </a:p>
        </p:txBody>
      </p:sp>
      <p:sp>
        <p:nvSpPr>
          <p:cNvPr name="TextBox 5" id="5"/>
          <p:cNvSpPr txBox="true"/>
          <p:nvPr/>
        </p:nvSpPr>
        <p:spPr>
          <a:xfrm rot="0">
            <a:off x="874801" y="5133975"/>
            <a:ext cx="8115300" cy="2170467"/>
          </a:xfrm>
          <a:prstGeom prst="rect">
            <a:avLst/>
          </a:prstGeom>
        </p:spPr>
        <p:txBody>
          <a:bodyPr anchor="t" rtlCol="false" tIns="0" lIns="0" bIns="0" rIns="0">
            <a:spAutoFit/>
          </a:bodyPr>
          <a:lstStyle/>
          <a:p>
            <a:pPr algn="ctr">
              <a:lnSpc>
                <a:spcPts val="14201"/>
              </a:lnSpc>
            </a:pPr>
            <a:r>
              <a:rPr lang="en-US" sz="14201" i="true" spc="-852">
                <a:solidFill>
                  <a:srgbClr val="000000"/>
                </a:solidFill>
                <a:latin typeface="Times New Roman MT Condensed Italics"/>
                <a:ea typeface="Times New Roman MT Condensed Italics"/>
                <a:cs typeface="Times New Roman MT Condensed Italics"/>
                <a:sym typeface="Times New Roman MT Condensed Italics"/>
              </a:rPr>
              <a:t>rekomendasi</a:t>
            </a:r>
          </a:p>
        </p:txBody>
      </p:sp>
      <p:sp>
        <p:nvSpPr>
          <p:cNvPr name="TextBox 6" id="6"/>
          <p:cNvSpPr txBox="true"/>
          <p:nvPr/>
        </p:nvSpPr>
        <p:spPr>
          <a:xfrm rot="0">
            <a:off x="607436" y="7352067"/>
            <a:ext cx="15390987" cy="3728722"/>
          </a:xfrm>
          <a:prstGeom prst="rect">
            <a:avLst/>
          </a:prstGeom>
        </p:spPr>
        <p:txBody>
          <a:bodyPr anchor="t" rtlCol="false" tIns="0" lIns="0" bIns="0" rIns="0">
            <a:spAutoFit/>
          </a:bodyPr>
          <a:lstStyle/>
          <a:p>
            <a:pPr algn="l" marL="669304" indent="-334652" lvl="1">
              <a:lnSpc>
                <a:spcPts val="3100"/>
              </a:lnSpc>
              <a:buFont typeface="Arial"/>
              <a:buChar char="•"/>
            </a:pPr>
            <a:r>
              <a:rPr lang="en-US" b="true" sz="3100" spc="-186">
                <a:solidFill>
                  <a:srgbClr val="C07A35"/>
                </a:solidFill>
                <a:latin typeface="Helvetica World Bold"/>
                <a:ea typeface="Helvetica World Bold"/>
                <a:cs typeface="Helvetica World Bold"/>
                <a:sym typeface="Helvetica World Bold"/>
              </a:rPr>
              <a:t>Pemantauan g</a:t>
            </a:r>
            <a:r>
              <a:rPr lang="en-US" b="true" sz="3100" spc="-186">
                <a:solidFill>
                  <a:srgbClr val="C07A35"/>
                </a:solidFill>
                <a:latin typeface="Helvetica World Bold"/>
                <a:ea typeface="Helvetica World Bold"/>
                <a:cs typeface="Helvetica World Bold"/>
                <a:sym typeface="Helvetica World Bold"/>
              </a:rPr>
              <a:t>lukosa berkala pada pasien pradiabetes (100 hingga 126 mg/dL) perlu dilakukan untuk mencegah progresi ke diabetes.</a:t>
            </a:r>
          </a:p>
          <a:p>
            <a:pPr algn="l">
              <a:lnSpc>
                <a:spcPts val="3100"/>
              </a:lnSpc>
            </a:pPr>
          </a:p>
          <a:p>
            <a:pPr algn="l" marL="669304" indent="-334652" lvl="1">
              <a:lnSpc>
                <a:spcPts val="3100"/>
              </a:lnSpc>
              <a:buFont typeface="Arial"/>
              <a:buChar char="•"/>
            </a:pPr>
            <a:r>
              <a:rPr lang="en-US" b="true" sz="3100" spc="-186">
                <a:solidFill>
                  <a:srgbClr val="C07A35"/>
                </a:solidFill>
                <a:latin typeface="Helvetica World Bold"/>
                <a:ea typeface="Helvetica World Bold"/>
                <a:cs typeface="Helvetica World Bold"/>
                <a:sym typeface="Helvetica World Bold"/>
              </a:rPr>
              <a:t>Skrining diabetes sebaiknya diprioritaskan pada wanita dengan kombinasi BMI di atas 30 dan glukosa di atas 100 mg/dL</a:t>
            </a:r>
          </a:p>
          <a:p>
            <a:pPr algn="l">
              <a:lnSpc>
                <a:spcPts val="3100"/>
              </a:lnSpc>
            </a:pPr>
          </a:p>
          <a:p>
            <a:pPr algn="l">
              <a:lnSpc>
                <a:spcPts val="3100"/>
              </a:lnSpc>
            </a:pPr>
          </a:p>
          <a:p>
            <a:pPr algn="l">
              <a:lnSpc>
                <a:spcPts val="3100"/>
              </a:lnSpc>
            </a:pPr>
          </a:p>
          <a:p>
            <a:pPr algn="l">
              <a:lnSpc>
                <a:spcPts val="310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DAHIxBl58V8</dc:identifier>
  <dcterms:modified xsi:type="dcterms:W3CDTF">2011-08-01T06:04:30Z</dcterms:modified>
  <cp:revision>1</cp:revision>
  <dc:title>PPT - Diabetes Data Analisis - Pima Indians</dc:title>
</cp:coreProperties>
</file>