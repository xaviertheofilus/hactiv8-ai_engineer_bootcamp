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  <p:embeddedFont>
      <p:font typeface="Anton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97760" y="6751740"/>
            <a:ext cx="4423690" cy="562183"/>
            <a:chOff x="0" y="0"/>
            <a:chExt cx="1410940" cy="1793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0940" cy="179309"/>
            </a:xfrm>
            <a:custGeom>
              <a:avLst/>
              <a:gdLst/>
              <a:ahLst/>
              <a:cxnLst/>
              <a:rect r="r" b="b" t="t" l="l"/>
              <a:pathLst>
                <a:path h="179309" w="1410940">
                  <a:moveTo>
                    <a:pt x="89255" y="0"/>
                  </a:moveTo>
                  <a:lnTo>
                    <a:pt x="1321685" y="0"/>
                  </a:lnTo>
                  <a:cubicBezTo>
                    <a:pt x="1345357" y="0"/>
                    <a:pt x="1368059" y="9404"/>
                    <a:pt x="1384798" y="26142"/>
                  </a:cubicBezTo>
                  <a:cubicBezTo>
                    <a:pt x="1401536" y="42881"/>
                    <a:pt x="1410940" y="65583"/>
                    <a:pt x="1410940" y="89255"/>
                  </a:cubicBezTo>
                  <a:lnTo>
                    <a:pt x="1410940" y="90053"/>
                  </a:lnTo>
                  <a:cubicBezTo>
                    <a:pt x="1410940" y="113725"/>
                    <a:pt x="1401536" y="136428"/>
                    <a:pt x="1384798" y="153166"/>
                  </a:cubicBezTo>
                  <a:cubicBezTo>
                    <a:pt x="1368059" y="169905"/>
                    <a:pt x="1345357" y="179309"/>
                    <a:pt x="1321685" y="179309"/>
                  </a:cubicBezTo>
                  <a:lnTo>
                    <a:pt x="89255" y="179309"/>
                  </a:lnTo>
                  <a:cubicBezTo>
                    <a:pt x="65583" y="179309"/>
                    <a:pt x="42881" y="169905"/>
                    <a:pt x="26142" y="153166"/>
                  </a:cubicBezTo>
                  <a:cubicBezTo>
                    <a:pt x="9404" y="136428"/>
                    <a:pt x="0" y="113725"/>
                    <a:pt x="0" y="90053"/>
                  </a:cubicBezTo>
                  <a:lnTo>
                    <a:pt x="0" y="89255"/>
                  </a:lnTo>
                  <a:cubicBezTo>
                    <a:pt x="0" y="65583"/>
                    <a:pt x="9404" y="42881"/>
                    <a:pt x="26142" y="26142"/>
                  </a:cubicBezTo>
                  <a:cubicBezTo>
                    <a:pt x="42881" y="9404"/>
                    <a:pt x="65583" y="0"/>
                    <a:pt x="8925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10940" cy="226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12329" y="1891306"/>
            <a:ext cx="3252194" cy="3252194"/>
          </a:xfrm>
          <a:custGeom>
            <a:avLst/>
            <a:gdLst/>
            <a:ahLst/>
            <a:cxnLst/>
            <a:rect r="r" b="b" t="t" l="l"/>
            <a:pathLst>
              <a:path h="3252194" w="3252194">
                <a:moveTo>
                  <a:pt x="0" y="0"/>
                </a:moveTo>
                <a:lnTo>
                  <a:pt x="3252194" y="0"/>
                </a:lnTo>
                <a:lnTo>
                  <a:pt x="3252194" y="3252194"/>
                </a:lnTo>
                <a:lnTo>
                  <a:pt x="0" y="3252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7343" y="5309200"/>
            <a:ext cx="9635546" cy="155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8"/>
              </a:lnSpc>
            </a:pPr>
            <a:r>
              <a:rPr lang="en-US" sz="12597" spc="-440" b="true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RAIKYO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176" y="8548971"/>
            <a:ext cx="7653382" cy="5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9"/>
              </a:lnSpc>
            </a:pPr>
            <a:r>
              <a:rPr lang="en-US" sz="317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Presented by </a:t>
            </a:r>
            <a:r>
              <a:rPr lang="en-US" sz="317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Xavier Theofilus Munthe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176" y="6832057"/>
            <a:ext cx="4302857" cy="36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Sales Consultant Mitsubishi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299903" y="851141"/>
            <a:ext cx="5464491" cy="11325370"/>
          </a:xfrm>
          <a:custGeom>
            <a:avLst/>
            <a:gdLst/>
            <a:ahLst/>
            <a:cxnLst/>
            <a:rect r="r" b="b" t="t" l="l"/>
            <a:pathLst>
              <a:path h="11325370" w="5464491">
                <a:moveTo>
                  <a:pt x="0" y="0"/>
                </a:moveTo>
                <a:lnTo>
                  <a:pt x="5464491" y="0"/>
                </a:lnTo>
                <a:lnTo>
                  <a:pt x="5464491" y="11325370"/>
                </a:lnTo>
                <a:lnTo>
                  <a:pt x="0" y="11325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55136" y="3689923"/>
            <a:ext cx="10042996" cy="435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</a:pPr>
          </a:p>
          <a:p>
            <a:pPr algn="l">
              <a:lnSpc>
                <a:spcPts val="4324"/>
              </a:lnSpc>
            </a:pPr>
            <a:r>
              <a:rPr lang="en-US" sz="3895" spc="202">
                <a:solidFill>
                  <a:srgbClr val="DAFFFB"/>
                </a:solidFill>
                <a:latin typeface="Anton"/>
                <a:ea typeface="Anton"/>
                <a:cs typeface="Anton"/>
                <a:sym typeface="Anton"/>
              </a:rPr>
              <a:t>Pelanggan kesulitan membandingkan spesifikasi antar mobil = kehilangan peluang penjualan</a:t>
            </a:r>
          </a:p>
          <a:p>
            <a:pPr algn="l">
              <a:lnSpc>
                <a:spcPts val="4324"/>
              </a:lnSpc>
            </a:pPr>
          </a:p>
          <a:p>
            <a:pPr algn="l">
              <a:lnSpc>
                <a:spcPts val="4324"/>
              </a:lnSpc>
            </a:pPr>
            <a:r>
              <a:rPr lang="en-US" sz="3895" spc="202">
                <a:solidFill>
                  <a:srgbClr val="DAFFFB"/>
                </a:solidFill>
                <a:latin typeface="Anton"/>
                <a:ea typeface="Anton"/>
                <a:cs typeface="Anton"/>
                <a:sym typeface="Anton"/>
              </a:rPr>
              <a:t>Sales consultant tidak selalu hafal semua detail teknis = kehilangan peluang penjualan</a:t>
            </a:r>
          </a:p>
          <a:p>
            <a:pPr algn="l">
              <a:lnSpc>
                <a:spcPts val="432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86170"/>
            <a:ext cx="8351720" cy="88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5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Tersedia 24/7 tanpa ketergantungan sales manusia, menjawab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69853" y="7630020"/>
            <a:ext cx="1628280" cy="1628280"/>
          </a:xfrm>
          <a:custGeom>
            <a:avLst/>
            <a:gdLst/>
            <a:ahLst/>
            <a:cxnLst/>
            <a:rect r="r" b="b" t="t" l="l"/>
            <a:pathLst>
              <a:path h="1628280" w="1628280">
                <a:moveTo>
                  <a:pt x="0" y="0"/>
                </a:moveTo>
                <a:lnTo>
                  <a:pt x="1628279" y="0"/>
                </a:lnTo>
                <a:lnTo>
                  <a:pt x="1628279" y="1628280"/>
                </a:lnTo>
                <a:lnTo>
                  <a:pt x="0" y="1628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0719247" y="1389602"/>
            <a:ext cx="7755612" cy="9472503"/>
          </a:xfrm>
          <a:custGeom>
            <a:avLst/>
            <a:gdLst/>
            <a:ahLst/>
            <a:cxnLst/>
            <a:rect r="r" b="b" t="t" l="l"/>
            <a:pathLst>
              <a:path h="9472503" w="7755612">
                <a:moveTo>
                  <a:pt x="7755611" y="0"/>
                </a:moveTo>
                <a:lnTo>
                  <a:pt x="0" y="0"/>
                </a:lnTo>
                <a:lnTo>
                  <a:pt x="0" y="9472503"/>
                </a:lnTo>
                <a:lnTo>
                  <a:pt x="7755611" y="9472503"/>
                </a:lnTo>
                <a:lnTo>
                  <a:pt x="7755611" y="0"/>
                </a:lnTo>
                <a:close/>
              </a:path>
            </a:pathLst>
          </a:custGeom>
          <a:blipFill>
            <a:blip r:embed="rId6">
              <a:alphaModFix amt="5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62066"/>
            <a:ext cx="7398179" cy="510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5"/>
              </a:lnSpc>
            </a:pPr>
            <a:r>
              <a:rPr lang="en-US" sz="9940" spc="-347" b="true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RAG Pipeline Arsitektur</a:t>
            </a:r>
          </a:p>
          <a:p>
            <a:pPr algn="l">
              <a:lnSpc>
                <a:spcPts val="914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955017" y="267730"/>
            <a:ext cx="8817555" cy="941060"/>
            <a:chOff x="0" y="0"/>
            <a:chExt cx="2812367" cy="3001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2367" cy="300152"/>
            </a:xfrm>
            <a:custGeom>
              <a:avLst/>
              <a:gdLst/>
              <a:ahLst/>
              <a:cxnLst/>
              <a:rect r="r" b="b" t="t" l="l"/>
              <a:pathLst>
                <a:path h="300152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255373"/>
                  </a:lnTo>
                  <a:cubicBezTo>
                    <a:pt x="2812367" y="280104"/>
                    <a:pt x="2792319" y="300152"/>
                    <a:pt x="2767588" y="300152"/>
                  </a:cubicBezTo>
                  <a:lnTo>
                    <a:pt x="44779" y="300152"/>
                  </a:lnTo>
                  <a:cubicBezTo>
                    <a:pt x="20048" y="300152"/>
                    <a:pt x="0" y="280104"/>
                    <a:pt x="0" y="255373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12367" cy="347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24026" y="414035"/>
            <a:ext cx="7969396" cy="9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1910" spc="4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Data Ingestion</a:t>
            </a:r>
          </a:p>
          <a:p>
            <a:pPr algn="l">
              <a:lnSpc>
                <a:spcPts val="2674"/>
              </a:lnSpc>
            </a:pPr>
            <a:r>
              <a:rPr lang="en-US" sz="1910" spc="4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Baca semua file PDF dari folder dataset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964576"/>
            <a:ext cx="1430790" cy="1430790"/>
          </a:xfrm>
          <a:custGeom>
            <a:avLst/>
            <a:gdLst/>
            <a:ahLst/>
            <a:cxnLst/>
            <a:rect r="r" b="b" t="t" l="l"/>
            <a:pathLst>
              <a:path h="1430790" w="1430790">
                <a:moveTo>
                  <a:pt x="0" y="0"/>
                </a:moveTo>
                <a:lnTo>
                  <a:pt x="1430790" y="0"/>
                </a:lnTo>
                <a:lnTo>
                  <a:pt x="1430790" y="1430790"/>
                </a:lnTo>
                <a:lnTo>
                  <a:pt x="0" y="1430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26811" y="964576"/>
            <a:ext cx="1430790" cy="1430790"/>
          </a:xfrm>
          <a:custGeom>
            <a:avLst/>
            <a:gdLst/>
            <a:ahLst/>
            <a:cxnLst/>
            <a:rect r="r" b="b" t="t" l="l"/>
            <a:pathLst>
              <a:path h="1430790" w="1430790">
                <a:moveTo>
                  <a:pt x="0" y="0"/>
                </a:moveTo>
                <a:lnTo>
                  <a:pt x="1430791" y="0"/>
                </a:lnTo>
                <a:lnTo>
                  <a:pt x="1430791" y="1430790"/>
                </a:lnTo>
                <a:lnTo>
                  <a:pt x="0" y="1430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034224" y="5143500"/>
            <a:ext cx="3639861" cy="5422511"/>
          </a:xfrm>
          <a:custGeom>
            <a:avLst/>
            <a:gdLst/>
            <a:ahLst/>
            <a:cxnLst/>
            <a:rect r="r" b="b" t="t" l="l"/>
            <a:pathLst>
              <a:path h="5422511" w="3639861">
                <a:moveTo>
                  <a:pt x="0" y="0"/>
                </a:moveTo>
                <a:lnTo>
                  <a:pt x="3639861" y="0"/>
                </a:lnTo>
                <a:lnTo>
                  <a:pt x="3639861" y="5422511"/>
                </a:lnTo>
                <a:lnTo>
                  <a:pt x="0" y="5422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955017" y="1679971"/>
            <a:ext cx="8817555" cy="1481400"/>
            <a:chOff x="0" y="0"/>
            <a:chExt cx="2812367" cy="472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2367" cy="472494"/>
            </a:xfrm>
            <a:custGeom>
              <a:avLst/>
              <a:gdLst/>
              <a:ahLst/>
              <a:cxnLst/>
              <a:rect r="r" b="b" t="t" l="l"/>
              <a:pathLst>
                <a:path h="472494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427715"/>
                  </a:lnTo>
                  <a:cubicBezTo>
                    <a:pt x="2812367" y="452446"/>
                    <a:pt x="2792319" y="472494"/>
                    <a:pt x="2767588" y="472494"/>
                  </a:cubicBezTo>
                  <a:lnTo>
                    <a:pt x="44779" y="472494"/>
                  </a:lnTo>
                  <a:cubicBezTo>
                    <a:pt x="20048" y="472494"/>
                    <a:pt x="0" y="452446"/>
                    <a:pt x="0" y="427715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812367" cy="520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24026" y="1815738"/>
            <a:ext cx="8299818" cy="113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Parsing (Text + Vision)</a:t>
            </a:r>
          </a:p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Text layer diekstrak langsung dari PDF via PyMuPDF apabila iamges menggunakan open ai api</a:t>
            </a:r>
          </a:p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Output text dan Vision digabungkan menjadi satu konten per halaman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55017" y="3628096"/>
            <a:ext cx="8817555" cy="1266578"/>
            <a:chOff x="0" y="0"/>
            <a:chExt cx="2812367" cy="4039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12367" cy="403976"/>
            </a:xfrm>
            <a:custGeom>
              <a:avLst/>
              <a:gdLst/>
              <a:ahLst/>
              <a:cxnLst/>
              <a:rect r="r" b="b" t="t" l="l"/>
              <a:pathLst>
                <a:path h="403976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359198"/>
                  </a:lnTo>
                  <a:cubicBezTo>
                    <a:pt x="2812367" y="383928"/>
                    <a:pt x="2792319" y="403976"/>
                    <a:pt x="2767588" y="403976"/>
                  </a:cubicBezTo>
                  <a:lnTo>
                    <a:pt x="44779" y="403976"/>
                  </a:lnTo>
                  <a:cubicBezTo>
                    <a:pt x="20048" y="403976"/>
                    <a:pt x="0" y="383928"/>
                    <a:pt x="0" y="359198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812367" cy="451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324026" y="3630905"/>
            <a:ext cx="8167649" cy="145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10" spc="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Chunking</a:t>
            </a:r>
          </a:p>
          <a:p>
            <a:pPr algn="l">
              <a:lnSpc>
                <a:spcPts val="2394"/>
              </a:lnSpc>
            </a:pPr>
            <a:r>
              <a:rPr lang="en-US" sz="1710" spc="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RecursiveCharacterTextSplitter</a:t>
            </a:r>
          </a:p>
          <a:p>
            <a:pPr algn="l">
              <a:lnSpc>
                <a:spcPts val="2394"/>
              </a:lnSpc>
            </a:pPr>
            <a:r>
              <a:rPr lang="en-US" sz="1710" spc="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Ukuran chunk: 1000 karakter, overlap: 200 karakter</a:t>
            </a:r>
          </a:p>
          <a:p>
            <a:pPr algn="l">
              <a:lnSpc>
                <a:spcPts val="2394"/>
              </a:lnSpc>
            </a:pPr>
            <a:r>
              <a:rPr lang="en-US" sz="1710" spc="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chunk -&gt; metadata: source, page, chunk_id, has_vision</a:t>
            </a:r>
          </a:p>
          <a:p>
            <a:pPr algn="l">
              <a:lnSpc>
                <a:spcPts val="2394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8955017" y="5143500"/>
            <a:ext cx="8817555" cy="1046784"/>
            <a:chOff x="0" y="0"/>
            <a:chExt cx="2812367" cy="3338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12367" cy="333873"/>
            </a:xfrm>
            <a:custGeom>
              <a:avLst/>
              <a:gdLst/>
              <a:ahLst/>
              <a:cxnLst/>
              <a:rect r="r" b="b" t="t" l="l"/>
              <a:pathLst>
                <a:path h="333873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289094"/>
                  </a:lnTo>
                  <a:cubicBezTo>
                    <a:pt x="2812367" y="313824"/>
                    <a:pt x="2792319" y="333873"/>
                    <a:pt x="2767588" y="333873"/>
                  </a:cubicBezTo>
                  <a:lnTo>
                    <a:pt x="44779" y="333873"/>
                  </a:lnTo>
                  <a:cubicBezTo>
                    <a:pt x="20048" y="333873"/>
                    <a:pt x="0" y="313824"/>
                    <a:pt x="0" y="289094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12367" cy="38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324026" y="5248917"/>
            <a:ext cx="7969396" cy="9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1910" spc="4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4.Embedding</a:t>
            </a:r>
          </a:p>
          <a:p>
            <a:pPr algn="l">
              <a:lnSpc>
                <a:spcPts val="2674"/>
              </a:lnSpc>
            </a:pPr>
            <a:r>
              <a:rPr lang="en-US" sz="1910" spc="4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Model: text-embedding-3-small dari OpenAI</a:t>
            </a:r>
          </a:p>
          <a:p>
            <a:pPr algn="l">
              <a:lnSpc>
                <a:spcPts val="2674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8955017" y="6438653"/>
            <a:ext cx="8817555" cy="1273716"/>
            <a:chOff x="0" y="0"/>
            <a:chExt cx="2812367" cy="4062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12367" cy="406253"/>
            </a:xfrm>
            <a:custGeom>
              <a:avLst/>
              <a:gdLst/>
              <a:ahLst/>
              <a:cxnLst/>
              <a:rect r="r" b="b" t="t" l="l"/>
              <a:pathLst>
                <a:path h="406253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361474"/>
                  </a:lnTo>
                  <a:cubicBezTo>
                    <a:pt x="2812367" y="386205"/>
                    <a:pt x="2792319" y="406253"/>
                    <a:pt x="2767588" y="406253"/>
                  </a:cubicBezTo>
                  <a:lnTo>
                    <a:pt x="44779" y="406253"/>
                  </a:lnTo>
                  <a:cubicBezTo>
                    <a:pt x="20048" y="406253"/>
                    <a:pt x="0" y="386205"/>
                    <a:pt x="0" y="361474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812367" cy="453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324026" y="6552953"/>
            <a:ext cx="7969396" cy="113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Vector Store (Pinecone)</a:t>
            </a:r>
          </a:p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Vektor disimpan ke Pinecone Serverless index</a:t>
            </a:r>
          </a:p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Metric similarity: cosine</a:t>
            </a:r>
          </a:p>
          <a:p>
            <a:pPr algn="l">
              <a:lnSpc>
                <a:spcPts val="2254"/>
              </a:lnSpc>
            </a:pPr>
            <a:r>
              <a:rPr lang="en-US" sz="1610" spc="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Index name: raikyo-mitsubishi-sales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55017" y="7960019"/>
            <a:ext cx="8817555" cy="1541627"/>
            <a:chOff x="0" y="0"/>
            <a:chExt cx="2812367" cy="4917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12367" cy="491703"/>
            </a:xfrm>
            <a:custGeom>
              <a:avLst/>
              <a:gdLst/>
              <a:ahLst/>
              <a:cxnLst/>
              <a:rect r="r" b="b" t="t" l="l"/>
              <a:pathLst>
                <a:path h="491703" w="2812367">
                  <a:moveTo>
                    <a:pt x="44779" y="0"/>
                  </a:moveTo>
                  <a:lnTo>
                    <a:pt x="2767588" y="0"/>
                  </a:lnTo>
                  <a:cubicBezTo>
                    <a:pt x="2779464" y="0"/>
                    <a:pt x="2790854" y="4718"/>
                    <a:pt x="2799252" y="13115"/>
                  </a:cubicBezTo>
                  <a:cubicBezTo>
                    <a:pt x="2807649" y="21513"/>
                    <a:pt x="2812367" y="32903"/>
                    <a:pt x="2812367" y="44779"/>
                  </a:cubicBezTo>
                  <a:lnTo>
                    <a:pt x="2812367" y="446925"/>
                  </a:lnTo>
                  <a:cubicBezTo>
                    <a:pt x="2812367" y="471655"/>
                    <a:pt x="2792319" y="491703"/>
                    <a:pt x="2767588" y="491703"/>
                  </a:cubicBezTo>
                  <a:lnTo>
                    <a:pt x="44779" y="491703"/>
                  </a:lnTo>
                  <a:cubicBezTo>
                    <a:pt x="20048" y="491703"/>
                    <a:pt x="0" y="471655"/>
                    <a:pt x="0" y="446925"/>
                  </a:cubicBezTo>
                  <a:lnTo>
                    <a:pt x="0" y="44779"/>
                  </a:lnTo>
                  <a:cubicBezTo>
                    <a:pt x="0" y="20048"/>
                    <a:pt x="20048" y="0"/>
                    <a:pt x="447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812367" cy="539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379096" y="8044186"/>
            <a:ext cx="7969396" cy="159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4"/>
              </a:lnSpc>
            </a:pPr>
            <a:r>
              <a:rPr lang="en-US" sz="1510" spc="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Hybrid Search</a:t>
            </a:r>
          </a:p>
          <a:p>
            <a:pPr algn="l">
              <a:lnSpc>
                <a:spcPts val="2114"/>
              </a:lnSpc>
            </a:pPr>
            <a:r>
              <a:rPr lang="en-US" sz="1510" spc="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Semantic search: Pinecone</a:t>
            </a:r>
          </a:p>
          <a:p>
            <a:pPr algn="l">
              <a:lnSpc>
                <a:spcPts val="2114"/>
              </a:lnSpc>
            </a:pPr>
            <a:r>
              <a:rPr lang="en-US" sz="1510" spc="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BM25:keyword ke seluruh corpus lokal</a:t>
            </a:r>
          </a:p>
          <a:p>
            <a:pPr algn="l">
              <a:lnSpc>
                <a:spcPts val="2114"/>
              </a:lnSpc>
            </a:pPr>
            <a:r>
              <a:rPr lang="en-US" sz="1510" spc="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Reciprocal Rank Fusion RRF</a:t>
            </a:r>
          </a:p>
          <a:p>
            <a:pPr algn="l">
              <a:lnSpc>
                <a:spcPts val="2114"/>
              </a:lnSpc>
            </a:pPr>
            <a:r>
              <a:rPr lang="en-US" sz="1510" spc="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Output: top-5 chunk</a:t>
            </a:r>
          </a:p>
          <a:p>
            <a:pPr algn="l">
              <a:lnSpc>
                <a:spcPts val="211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7835" y="7436818"/>
            <a:ext cx="1821482" cy="1821482"/>
          </a:xfrm>
          <a:custGeom>
            <a:avLst/>
            <a:gdLst/>
            <a:ahLst/>
            <a:cxnLst/>
            <a:rect r="r" b="b" t="t" l="l"/>
            <a:pathLst>
              <a:path h="1821482" w="1821482">
                <a:moveTo>
                  <a:pt x="0" y="0"/>
                </a:moveTo>
                <a:lnTo>
                  <a:pt x="1821483" y="0"/>
                </a:lnTo>
                <a:lnTo>
                  <a:pt x="1821483" y="1821482"/>
                </a:lnTo>
                <a:lnTo>
                  <a:pt x="0" y="182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6283" y="1880938"/>
            <a:ext cx="9057133" cy="6781528"/>
          </a:xfrm>
          <a:custGeom>
            <a:avLst/>
            <a:gdLst/>
            <a:ahLst/>
            <a:cxnLst/>
            <a:rect r="r" b="b" t="t" l="l"/>
            <a:pathLst>
              <a:path h="6781528" w="9057133">
                <a:moveTo>
                  <a:pt x="0" y="0"/>
                </a:moveTo>
                <a:lnTo>
                  <a:pt x="9057133" y="0"/>
                </a:lnTo>
                <a:lnTo>
                  <a:pt x="9057133" y="6781528"/>
                </a:lnTo>
                <a:lnTo>
                  <a:pt x="0" y="6781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09318" y="3444542"/>
            <a:ext cx="7368547" cy="3654320"/>
          </a:xfrm>
          <a:custGeom>
            <a:avLst/>
            <a:gdLst/>
            <a:ahLst/>
            <a:cxnLst/>
            <a:rect r="r" b="b" t="t" l="l"/>
            <a:pathLst>
              <a:path h="3654320" w="7368547">
                <a:moveTo>
                  <a:pt x="0" y="0"/>
                </a:moveTo>
                <a:lnTo>
                  <a:pt x="7368546" y="0"/>
                </a:lnTo>
                <a:lnTo>
                  <a:pt x="7368546" y="3654320"/>
                </a:lnTo>
                <a:lnTo>
                  <a:pt x="0" y="36543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1123" y="688465"/>
            <a:ext cx="8827454" cy="114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0"/>
              </a:lnSpc>
            </a:pPr>
            <a:r>
              <a:rPr lang="en-US" sz="8184" spc="-286" b="true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Chunking Doc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7835" y="7436818"/>
            <a:ext cx="1821482" cy="1821482"/>
          </a:xfrm>
          <a:custGeom>
            <a:avLst/>
            <a:gdLst/>
            <a:ahLst/>
            <a:cxnLst/>
            <a:rect r="r" b="b" t="t" l="l"/>
            <a:pathLst>
              <a:path h="1821482" w="1821482">
                <a:moveTo>
                  <a:pt x="0" y="0"/>
                </a:moveTo>
                <a:lnTo>
                  <a:pt x="1821483" y="0"/>
                </a:lnTo>
                <a:lnTo>
                  <a:pt x="1821483" y="1821482"/>
                </a:lnTo>
                <a:lnTo>
                  <a:pt x="0" y="182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3179" y="513485"/>
            <a:ext cx="8765397" cy="7834074"/>
          </a:xfrm>
          <a:custGeom>
            <a:avLst/>
            <a:gdLst/>
            <a:ahLst/>
            <a:cxnLst/>
            <a:rect r="r" b="b" t="t" l="l"/>
            <a:pathLst>
              <a:path h="7834074" w="8765397">
                <a:moveTo>
                  <a:pt x="0" y="0"/>
                </a:moveTo>
                <a:lnTo>
                  <a:pt x="8765397" y="0"/>
                </a:lnTo>
                <a:lnTo>
                  <a:pt x="8765397" y="7834074"/>
                </a:lnTo>
                <a:lnTo>
                  <a:pt x="0" y="78340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02118" y="3205922"/>
            <a:ext cx="7469336" cy="3875157"/>
          </a:xfrm>
          <a:custGeom>
            <a:avLst/>
            <a:gdLst/>
            <a:ahLst/>
            <a:cxnLst/>
            <a:rect r="r" b="b" t="t" l="l"/>
            <a:pathLst>
              <a:path h="3875157" w="7469336">
                <a:moveTo>
                  <a:pt x="0" y="0"/>
                </a:moveTo>
                <a:lnTo>
                  <a:pt x="7469336" y="0"/>
                </a:lnTo>
                <a:lnTo>
                  <a:pt x="7469336" y="3875156"/>
                </a:lnTo>
                <a:lnTo>
                  <a:pt x="0" y="38751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20789" y="219075"/>
            <a:ext cx="5650665" cy="22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30"/>
              </a:lnSpc>
            </a:pPr>
            <a:r>
              <a:rPr lang="en-US" b="true" sz="8184" spc="-286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Embedd to Pinecone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7835" y="7436818"/>
            <a:ext cx="1821482" cy="1821482"/>
          </a:xfrm>
          <a:custGeom>
            <a:avLst/>
            <a:gdLst/>
            <a:ahLst/>
            <a:cxnLst/>
            <a:rect r="r" b="b" t="t" l="l"/>
            <a:pathLst>
              <a:path h="1821482" w="1821482">
                <a:moveTo>
                  <a:pt x="0" y="0"/>
                </a:moveTo>
                <a:lnTo>
                  <a:pt x="1821483" y="0"/>
                </a:lnTo>
                <a:lnTo>
                  <a:pt x="1821483" y="1821482"/>
                </a:lnTo>
                <a:lnTo>
                  <a:pt x="0" y="182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2487" y="1028700"/>
            <a:ext cx="9253222" cy="8015603"/>
          </a:xfrm>
          <a:custGeom>
            <a:avLst/>
            <a:gdLst/>
            <a:ahLst/>
            <a:cxnLst/>
            <a:rect r="r" b="b" t="t" l="l"/>
            <a:pathLst>
              <a:path h="8015603" w="9253222">
                <a:moveTo>
                  <a:pt x="0" y="0"/>
                </a:moveTo>
                <a:lnTo>
                  <a:pt x="9253222" y="0"/>
                </a:lnTo>
                <a:lnTo>
                  <a:pt x="9253222" y="8015603"/>
                </a:lnTo>
                <a:lnTo>
                  <a:pt x="0" y="8015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83338" y="4522103"/>
            <a:ext cx="7040123" cy="1483867"/>
          </a:xfrm>
          <a:custGeom>
            <a:avLst/>
            <a:gdLst/>
            <a:ahLst/>
            <a:cxnLst/>
            <a:rect r="r" b="b" t="t" l="l"/>
            <a:pathLst>
              <a:path h="1483867" w="7040123">
                <a:moveTo>
                  <a:pt x="0" y="0"/>
                </a:moveTo>
                <a:lnTo>
                  <a:pt x="7040123" y="0"/>
                </a:lnTo>
                <a:lnTo>
                  <a:pt x="7040123" y="1483866"/>
                </a:lnTo>
                <a:lnTo>
                  <a:pt x="0" y="14838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87835" y="457692"/>
            <a:ext cx="9283618" cy="7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54"/>
              </a:lnSpc>
            </a:pPr>
            <a:r>
              <a:rPr lang="en-US" b="true" sz="5385" spc="-188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Hybrid (Semantic + BM25)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7835" y="7436818"/>
            <a:ext cx="1821482" cy="1821482"/>
          </a:xfrm>
          <a:custGeom>
            <a:avLst/>
            <a:gdLst/>
            <a:ahLst/>
            <a:cxnLst/>
            <a:rect r="r" b="b" t="t" l="l"/>
            <a:pathLst>
              <a:path h="1821482" w="1821482">
                <a:moveTo>
                  <a:pt x="0" y="0"/>
                </a:moveTo>
                <a:lnTo>
                  <a:pt x="1821483" y="0"/>
                </a:lnTo>
                <a:lnTo>
                  <a:pt x="1821483" y="1821482"/>
                </a:lnTo>
                <a:lnTo>
                  <a:pt x="0" y="182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55396" y="314817"/>
            <a:ext cx="8552206" cy="8943483"/>
          </a:xfrm>
          <a:custGeom>
            <a:avLst/>
            <a:gdLst/>
            <a:ahLst/>
            <a:cxnLst/>
            <a:rect r="r" b="b" t="t" l="l"/>
            <a:pathLst>
              <a:path h="8943483" w="8552206">
                <a:moveTo>
                  <a:pt x="0" y="0"/>
                </a:moveTo>
                <a:lnTo>
                  <a:pt x="8552206" y="0"/>
                </a:lnTo>
                <a:lnTo>
                  <a:pt x="8552206" y="8943483"/>
                </a:lnTo>
                <a:lnTo>
                  <a:pt x="0" y="89434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87835" y="457692"/>
            <a:ext cx="9283618" cy="7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54"/>
              </a:lnSpc>
            </a:pPr>
            <a:r>
              <a:rPr lang="en-US" b="true" sz="5385" spc="-188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Pipeline RAG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87835" y="7436818"/>
            <a:ext cx="1821482" cy="1821482"/>
          </a:xfrm>
          <a:custGeom>
            <a:avLst/>
            <a:gdLst/>
            <a:ahLst/>
            <a:cxnLst/>
            <a:rect r="r" b="b" t="t" l="l"/>
            <a:pathLst>
              <a:path h="1821482" w="1821482">
                <a:moveTo>
                  <a:pt x="0" y="0"/>
                </a:moveTo>
                <a:lnTo>
                  <a:pt x="1821483" y="0"/>
                </a:lnTo>
                <a:lnTo>
                  <a:pt x="1821483" y="1821482"/>
                </a:lnTo>
                <a:lnTo>
                  <a:pt x="0" y="182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6920" y="762988"/>
            <a:ext cx="11301259" cy="4591136"/>
          </a:xfrm>
          <a:custGeom>
            <a:avLst/>
            <a:gdLst/>
            <a:ahLst/>
            <a:cxnLst/>
            <a:rect r="r" b="b" t="t" l="l"/>
            <a:pathLst>
              <a:path h="4591136" w="11301259">
                <a:moveTo>
                  <a:pt x="0" y="0"/>
                </a:moveTo>
                <a:lnTo>
                  <a:pt x="11301259" y="0"/>
                </a:lnTo>
                <a:lnTo>
                  <a:pt x="11301259" y="4591136"/>
                </a:lnTo>
                <a:lnTo>
                  <a:pt x="0" y="45911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96507" y="4780176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9" y="0"/>
                </a:lnTo>
                <a:lnTo>
                  <a:pt x="11301259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87835" y="457692"/>
            <a:ext cx="9283618" cy="7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54"/>
              </a:lnSpc>
            </a:pPr>
            <a:r>
              <a:rPr lang="en-US" b="true" sz="5385" spc="-188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Eval &amp; Testing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085" y="-159421"/>
            <a:ext cx="19060169" cy="10605843"/>
            <a:chOff x="0" y="0"/>
            <a:chExt cx="25413559" cy="14141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272435" y="0"/>
              <a:ext cx="14141124" cy="14141124"/>
            </a:xfrm>
            <a:custGeom>
              <a:avLst/>
              <a:gdLst/>
              <a:ahLst/>
              <a:cxnLst/>
              <a:rect r="r" b="b" t="t" l="l"/>
              <a:pathLst>
                <a:path h="14141124" w="14141124">
                  <a:moveTo>
                    <a:pt x="0" y="0"/>
                  </a:moveTo>
                  <a:lnTo>
                    <a:pt x="14141124" y="0"/>
                  </a:lnTo>
                  <a:lnTo>
                    <a:pt x="14141124" y="14141124"/>
                  </a:lnTo>
                  <a:lnTo>
                    <a:pt x="0" y="14141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3639"/>
            <a:ext cx="9480618" cy="6504661"/>
            <a:chOff x="0" y="0"/>
            <a:chExt cx="3023852" cy="2074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3852" cy="2074668"/>
            </a:xfrm>
            <a:custGeom>
              <a:avLst/>
              <a:gdLst/>
              <a:ahLst/>
              <a:cxnLst/>
              <a:rect r="r" b="b" t="t" l="l"/>
              <a:pathLst>
                <a:path h="2074668" w="3023852">
                  <a:moveTo>
                    <a:pt x="41647" y="0"/>
                  </a:moveTo>
                  <a:lnTo>
                    <a:pt x="2982205" y="0"/>
                  </a:lnTo>
                  <a:cubicBezTo>
                    <a:pt x="3005206" y="0"/>
                    <a:pt x="3023852" y="18646"/>
                    <a:pt x="3023852" y="41647"/>
                  </a:cubicBezTo>
                  <a:lnTo>
                    <a:pt x="3023852" y="2033021"/>
                  </a:lnTo>
                  <a:cubicBezTo>
                    <a:pt x="3023852" y="2056022"/>
                    <a:pt x="3005206" y="2074668"/>
                    <a:pt x="2982205" y="2074668"/>
                  </a:cubicBezTo>
                  <a:lnTo>
                    <a:pt x="41647" y="2074668"/>
                  </a:lnTo>
                  <a:cubicBezTo>
                    <a:pt x="18646" y="2074668"/>
                    <a:pt x="0" y="2056022"/>
                    <a:pt x="0" y="2033021"/>
                  </a:cubicBezTo>
                  <a:lnTo>
                    <a:pt x="0" y="41647"/>
                  </a:lnTo>
                  <a:cubicBezTo>
                    <a:pt x="0" y="18646"/>
                    <a:pt x="18646" y="0"/>
                    <a:pt x="4164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023852" cy="2122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14350" y="9883238"/>
            <a:ext cx="21040117" cy="3086100"/>
            <a:chOff x="0" y="0"/>
            <a:chExt cx="554143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414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41430">
                  <a:moveTo>
                    <a:pt x="0" y="0"/>
                  </a:moveTo>
                  <a:lnTo>
                    <a:pt x="5541430" y="0"/>
                  </a:lnTo>
                  <a:lnTo>
                    <a:pt x="55414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AFFF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54143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210687" y="2753639"/>
            <a:ext cx="8518559" cy="11817654"/>
          </a:xfrm>
          <a:custGeom>
            <a:avLst/>
            <a:gdLst/>
            <a:ahLst/>
            <a:cxnLst/>
            <a:rect r="r" b="b" t="t" l="l"/>
            <a:pathLst>
              <a:path h="11817654" w="8518559">
                <a:moveTo>
                  <a:pt x="0" y="0"/>
                </a:moveTo>
                <a:lnTo>
                  <a:pt x="8518559" y="0"/>
                </a:lnTo>
                <a:lnTo>
                  <a:pt x="8518559" y="11817654"/>
                </a:lnTo>
                <a:lnTo>
                  <a:pt x="0" y="11817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3117" y="1028700"/>
            <a:ext cx="11301259" cy="4209719"/>
          </a:xfrm>
          <a:custGeom>
            <a:avLst/>
            <a:gdLst/>
            <a:ahLst/>
            <a:cxnLst/>
            <a:rect r="r" b="b" t="t" l="l"/>
            <a:pathLst>
              <a:path h="4209719" w="11301259">
                <a:moveTo>
                  <a:pt x="0" y="0"/>
                </a:moveTo>
                <a:lnTo>
                  <a:pt x="11301259" y="0"/>
                </a:lnTo>
                <a:lnTo>
                  <a:pt x="11301259" y="4209719"/>
                </a:lnTo>
                <a:lnTo>
                  <a:pt x="0" y="4209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68707" y="5420878"/>
            <a:ext cx="11301259" cy="4124960"/>
          </a:xfrm>
          <a:custGeom>
            <a:avLst/>
            <a:gdLst/>
            <a:ahLst/>
            <a:cxnLst/>
            <a:rect r="r" b="b" t="t" l="l"/>
            <a:pathLst>
              <a:path h="4124960" w="11301259">
                <a:moveTo>
                  <a:pt x="0" y="0"/>
                </a:moveTo>
                <a:lnTo>
                  <a:pt x="11301259" y="0"/>
                </a:lnTo>
                <a:lnTo>
                  <a:pt x="11301259" y="4124959"/>
                </a:lnTo>
                <a:lnTo>
                  <a:pt x="0" y="4124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87835" y="457692"/>
            <a:ext cx="9283618" cy="7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54"/>
              </a:lnSpc>
            </a:pPr>
            <a:r>
              <a:rPr lang="en-US" b="true" sz="5385" spc="-188">
                <a:solidFill>
                  <a:srgbClr val="DAFF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Eval &amp;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DAHKXjYTb5s</dc:identifier>
  <dcterms:modified xsi:type="dcterms:W3CDTF">2011-08-01T06:04:30Z</dcterms:modified>
  <cp:revision>1</cp:revision>
  <dc:title>Mini Project 4_RaikyoAI Sales Consultant Mitsubishi_Xavier Theofilus Munthe</dc:title>
</cp:coreProperties>
</file>