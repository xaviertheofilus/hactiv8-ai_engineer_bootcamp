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Helvetica World" panose="020B0604020202020204" charset="-128"/>
      <p:regular r:id="rId10"/>
    </p:embeddedFont>
    <p:embeddedFont>
      <p:font typeface="Helvetica World Bold" panose="020B0604020202020204" charset="-128"/>
      <p:regular r:id="rId11"/>
    </p:embeddedFont>
    <p:embeddedFont>
      <p:font typeface="League Spartan" panose="020B0604020202020204" charset="0"/>
      <p:regular r:id="rId12"/>
    </p:embeddedFont>
    <p:embeddedFont>
      <p:font typeface="Times New Roman MT Condensed Italics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92613" y="3322972"/>
            <a:ext cx="10702774" cy="3357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4"/>
              </a:lnSpc>
            </a:pPr>
            <a:r>
              <a:rPr lang="en-US" sz="12044" i="1" spc="-722">
                <a:solidFill>
                  <a:srgbClr val="000000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Diabetes Data Analisis- </a:t>
            </a:r>
          </a:p>
          <a:p>
            <a:pPr algn="ctr">
              <a:lnSpc>
                <a:spcPts val="12044"/>
              </a:lnSpc>
            </a:pPr>
            <a:endParaRPr lang="en-US" sz="12044" i="1" spc="-722">
              <a:solidFill>
                <a:srgbClr val="000000"/>
              </a:solidFill>
              <a:latin typeface="Times New Roman MT Condensed Italics"/>
              <a:ea typeface="Times New Roman MT Condensed Italics"/>
              <a:cs typeface="Times New Roman MT Condensed Italics"/>
              <a:sym typeface="Times New Roman MT Condensed Itali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672600" y="9027250"/>
            <a:ext cx="4942800" cy="53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2"/>
              </a:lnSpc>
            </a:pPr>
            <a:r>
              <a:rPr lang="en-US" sz="4062" spc="-24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Xavier Theofilus Munthe</a:t>
            </a:r>
          </a:p>
        </p:txBody>
      </p:sp>
      <p:sp>
        <p:nvSpPr>
          <p:cNvPr id="4" name="AutoShape 4"/>
          <p:cNvSpPr/>
          <p:nvPr/>
        </p:nvSpPr>
        <p:spPr>
          <a:xfrm>
            <a:off x="4814481" y="6812809"/>
            <a:ext cx="8693130" cy="0"/>
          </a:xfrm>
          <a:prstGeom prst="line">
            <a:avLst/>
          </a:prstGeom>
          <a:ln w="38100" cap="rnd">
            <a:solidFill>
              <a:srgbClr val="C07A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929875" y="4952259"/>
            <a:ext cx="10428250" cy="1860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0"/>
              </a:lnSpc>
            </a:pPr>
            <a:r>
              <a:rPr lang="en-US" sz="14000" spc="-84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Pima Indians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24230"/>
            <a:ext cx="4126231" cy="1220740"/>
            <a:chOff x="0" y="0"/>
            <a:chExt cx="5501641" cy="1627653"/>
          </a:xfrm>
        </p:grpSpPr>
        <p:sp>
          <p:nvSpPr>
            <p:cNvPr id="3" name="AutoShape 3"/>
            <p:cNvSpPr/>
            <p:nvPr/>
          </p:nvSpPr>
          <p:spPr>
            <a:xfrm>
              <a:off x="0" y="1602253"/>
              <a:ext cx="1056177" cy="0"/>
            </a:xfrm>
            <a:prstGeom prst="line">
              <a:avLst/>
            </a:prstGeom>
            <a:ln w="50800" cap="rnd">
              <a:solidFill>
                <a:srgbClr val="C07A3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04775"/>
              <a:ext cx="5501641" cy="1024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Source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3904297"/>
            <a:ext cx="11403027" cy="3364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Dataset Kaggle -  National Institute of Diabetes and Digestive and Kidney Diseases (NIDDK) - 1988 </a:t>
            </a:r>
          </a:p>
          <a:p>
            <a:pPr algn="l">
              <a:lnSpc>
                <a:spcPts val="3840"/>
              </a:lnSpc>
            </a:pPr>
            <a:endParaRPr lang="en-US" sz="2400" spc="-48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Populasi - Wanita keturunan Pima Indian berusia minimal 21 tahun. (Phoenix, Arizona, Amerika Serikat.)</a:t>
            </a:r>
          </a:p>
          <a:p>
            <a:pPr algn="r">
              <a:lnSpc>
                <a:spcPts val="3840"/>
              </a:lnSpc>
            </a:pPr>
            <a:endParaRPr lang="en-US" sz="2400" spc="-48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Dataset - 768 pasien </a:t>
            </a:r>
          </a:p>
        </p:txBody>
      </p:sp>
      <p:sp>
        <p:nvSpPr>
          <p:cNvPr id="6" name="Freeform 6"/>
          <p:cNvSpPr/>
          <p:nvPr/>
        </p:nvSpPr>
        <p:spPr>
          <a:xfrm>
            <a:off x="13373805" y="0"/>
            <a:ext cx="4914195" cy="10699362"/>
          </a:xfrm>
          <a:custGeom>
            <a:avLst/>
            <a:gdLst/>
            <a:ahLst/>
            <a:cxnLst/>
            <a:rect l="l" t="t" r="r" b="b"/>
            <a:pathLst>
              <a:path w="4914195" h="10699362">
                <a:moveTo>
                  <a:pt x="0" y="0"/>
                </a:moveTo>
                <a:lnTo>
                  <a:pt x="4914195" y="0"/>
                </a:lnTo>
                <a:lnTo>
                  <a:pt x="4914195" y="10699362"/>
                </a:lnTo>
                <a:lnTo>
                  <a:pt x="0" y="106993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3889" t="-6159" r="-68131" b="-6159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16470" y="2002129"/>
            <a:ext cx="12648656" cy="5533787"/>
          </a:xfrm>
          <a:custGeom>
            <a:avLst/>
            <a:gdLst/>
            <a:ahLst/>
            <a:cxnLst/>
            <a:rect l="l" t="t" r="r" b="b"/>
            <a:pathLst>
              <a:path w="12648656" h="5533787">
                <a:moveTo>
                  <a:pt x="0" y="0"/>
                </a:moveTo>
                <a:lnTo>
                  <a:pt x="12648656" y="0"/>
                </a:lnTo>
                <a:lnTo>
                  <a:pt x="12648656" y="5533787"/>
                </a:lnTo>
                <a:lnTo>
                  <a:pt x="0" y="5533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76250" y="645160"/>
            <a:ext cx="6324328" cy="824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  <a:spcBef>
                <a:spcPct val="0"/>
              </a:spcBef>
            </a:pPr>
            <a:r>
              <a:rPr lang="en-US" sz="3200" spc="-12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Distribusi Pasien vs Diabetes dan Tidak Diabetes 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834904" y="8153254"/>
            <a:ext cx="11230223" cy="548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sz="2100" spc="-84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Dari total 768 pasien, sebanyak 500 pasien (65,1%) tidak terdiagnosis diabetes dan 268 pasien (34,9%) terdiagnosis diabetes.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6250" y="248650"/>
            <a:ext cx="21396257" cy="1220740"/>
            <a:chOff x="0" y="0"/>
            <a:chExt cx="28528342" cy="1627653"/>
          </a:xfrm>
        </p:grpSpPr>
        <p:sp>
          <p:nvSpPr>
            <p:cNvPr id="6" name="AutoShape 6"/>
            <p:cNvSpPr/>
            <p:nvPr/>
          </p:nvSpPr>
          <p:spPr>
            <a:xfrm>
              <a:off x="0" y="1602253"/>
              <a:ext cx="5476725" cy="0"/>
            </a:xfrm>
            <a:prstGeom prst="line">
              <a:avLst/>
            </a:prstGeom>
            <a:ln w="50800" cap="rnd">
              <a:solidFill>
                <a:srgbClr val="C07A3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4775"/>
              <a:ext cx="28528342" cy="1024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0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35318" y="5873687"/>
            <a:ext cx="2751252" cy="275125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07A3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8128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684066" y="8624939"/>
            <a:ext cx="2751252" cy="275125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07A3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57150"/>
              <a:ext cx="8128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0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1568932"/>
            <a:ext cx="11944803" cy="5330369"/>
          </a:xfrm>
          <a:custGeom>
            <a:avLst/>
            <a:gdLst/>
            <a:ahLst/>
            <a:cxnLst/>
            <a:rect l="l" t="t" r="r" b="b"/>
            <a:pathLst>
              <a:path w="11944803" h="5330369">
                <a:moveTo>
                  <a:pt x="0" y="0"/>
                </a:moveTo>
                <a:lnTo>
                  <a:pt x="11944803" y="0"/>
                </a:lnTo>
                <a:lnTo>
                  <a:pt x="11944803" y="5330368"/>
                </a:lnTo>
                <a:lnTo>
                  <a:pt x="0" y="53303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28700" y="7506340"/>
            <a:ext cx="11203924" cy="142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2400" spc="-48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</a:t>
            </a:r>
            <a:r>
              <a:rPr lang="en-US" sz="2400" u="none" strike="noStrike" spc="-48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asien diabetes memiliki rata-rata kadar glukosa sebesar 138 mg/dL, melampaui ambang batas diagnostik ADA yaitu 126 mg/dL, yang menjadikan glukosa darah sebagai indikator klinis paling kuat dalam mendeteksi diabetes.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17037"/>
            <a:ext cx="9873973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 spc="-14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Distribusi Kadar Glukosa Berdasarkan Diagnosis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-192040"/>
            <a:ext cx="21396257" cy="1220740"/>
            <a:chOff x="0" y="0"/>
            <a:chExt cx="28528342" cy="1627653"/>
          </a:xfrm>
        </p:grpSpPr>
        <p:sp>
          <p:nvSpPr>
            <p:cNvPr id="12" name="AutoShape 12"/>
            <p:cNvSpPr/>
            <p:nvPr/>
          </p:nvSpPr>
          <p:spPr>
            <a:xfrm>
              <a:off x="0" y="1602253"/>
              <a:ext cx="5476725" cy="0"/>
            </a:xfrm>
            <a:prstGeom prst="line">
              <a:avLst/>
            </a:prstGeom>
            <a:ln w="50800" cap="rnd">
              <a:solidFill>
                <a:srgbClr val="C07A3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04775"/>
              <a:ext cx="28528342" cy="1024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0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66110" y="1981815"/>
            <a:ext cx="792133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66110" y="383827"/>
            <a:ext cx="11301259" cy="230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b="1" spc="-336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Perbandingan Nilai Median Fitur Klinis Utama</a:t>
            </a:r>
          </a:p>
          <a:p>
            <a:pPr algn="l">
              <a:lnSpc>
                <a:spcPts val="5600"/>
              </a:lnSpc>
            </a:pPr>
            <a:endParaRPr lang="en-US" sz="5600" b="1" spc="-336">
              <a:solidFill>
                <a:srgbClr val="C07A35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562814" y="2311708"/>
            <a:ext cx="17162373" cy="5663583"/>
          </a:xfrm>
          <a:custGeom>
            <a:avLst/>
            <a:gdLst/>
            <a:ahLst/>
            <a:cxnLst/>
            <a:rect l="l" t="t" r="r" b="b"/>
            <a:pathLst>
              <a:path w="17162373" h="5663583">
                <a:moveTo>
                  <a:pt x="0" y="0"/>
                </a:moveTo>
                <a:lnTo>
                  <a:pt x="17162372" y="0"/>
                </a:lnTo>
                <a:lnTo>
                  <a:pt x="17162372" y="5663584"/>
                </a:lnTo>
                <a:lnTo>
                  <a:pt x="0" y="5663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63445" y="8322945"/>
            <a:ext cx="11203924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</a:t>
            </a:r>
            <a:r>
              <a:rPr lang="en-US" sz="2400" u="none" strike="noStrike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edian glukosa pasien diabetes (140 mg/dL) lebih tinggi dibanding tidak diabetes (110 mg/dL), begitu pula pada IMT (34 vs 30) dan usia (37 vs 31 tahun).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119864" y="1849646"/>
            <a:ext cx="792133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119864" y="376554"/>
            <a:ext cx="11301259" cy="1920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4600" b="1" spc="-276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Tingkat Diabetes Berdasarkan Kategori BMI dan Kelompok Usia</a:t>
            </a:r>
          </a:p>
          <a:p>
            <a:pPr algn="l">
              <a:lnSpc>
                <a:spcPts val="4600"/>
              </a:lnSpc>
            </a:pPr>
            <a:endParaRPr lang="en-US" sz="4600" b="1" spc="-276">
              <a:solidFill>
                <a:srgbClr val="C07A35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119864" y="8977311"/>
            <a:ext cx="12450555" cy="1064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0"/>
              </a:lnSpc>
              <a:spcBef>
                <a:spcPct val="0"/>
              </a:spcBef>
            </a:pPr>
            <a:r>
              <a:rPr lang="en-US" sz="3100" spc="-12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Pasien obesitas mencatat tingkat diabetes tertinggi sebesar 44,3%, dan kelompok usia 50–59 tahun menjadi yang paling berisiko dengan angka 46,8%.</a:t>
            </a:r>
          </a:p>
        </p:txBody>
      </p:sp>
      <p:sp>
        <p:nvSpPr>
          <p:cNvPr id="5" name="Freeform 5"/>
          <p:cNvSpPr/>
          <p:nvPr/>
        </p:nvSpPr>
        <p:spPr>
          <a:xfrm>
            <a:off x="2119864" y="2297430"/>
            <a:ext cx="14048272" cy="5988076"/>
          </a:xfrm>
          <a:custGeom>
            <a:avLst/>
            <a:gdLst/>
            <a:ahLst/>
            <a:cxnLst/>
            <a:rect l="l" t="t" r="r" b="b"/>
            <a:pathLst>
              <a:path w="14048272" h="5988076">
                <a:moveTo>
                  <a:pt x="0" y="0"/>
                </a:moveTo>
                <a:lnTo>
                  <a:pt x="14048272" y="0"/>
                </a:lnTo>
                <a:lnTo>
                  <a:pt x="14048272" y="5988076"/>
                </a:lnTo>
                <a:lnTo>
                  <a:pt x="0" y="59880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66110" y="1298944"/>
            <a:ext cx="792133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66110" y="1685678"/>
            <a:ext cx="9123641" cy="7572622"/>
          </a:xfrm>
          <a:custGeom>
            <a:avLst/>
            <a:gdLst/>
            <a:ahLst/>
            <a:cxnLst/>
            <a:rect l="l" t="t" r="r" b="b"/>
            <a:pathLst>
              <a:path w="9123641" h="7572622">
                <a:moveTo>
                  <a:pt x="0" y="0"/>
                </a:moveTo>
                <a:lnTo>
                  <a:pt x="9123641" y="0"/>
                </a:lnTo>
                <a:lnTo>
                  <a:pt x="9123641" y="7572622"/>
                </a:lnTo>
                <a:lnTo>
                  <a:pt x="0" y="75726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66110" y="383827"/>
            <a:ext cx="11301259" cy="1523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b="1" spc="-336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Korelasi Antar Variabel Klinis</a:t>
            </a:r>
          </a:p>
          <a:p>
            <a:pPr algn="l">
              <a:lnSpc>
                <a:spcPts val="5600"/>
              </a:lnSpc>
            </a:pPr>
            <a:endParaRPr lang="en-US" sz="5600" b="1" spc="-336">
              <a:solidFill>
                <a:srgbClr val="C07A35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375371" y="2443567"/>
            <a:ext cx="6617390" cy="2223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 spc="-12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Kehamilan (0,59), glukosa (0,43), dan IMT (0,31) adalah tiga variabel dengan korelasi tertinggi terhadap diagnosis diabetes.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6435318" y="5873687"/>
            <a:ext cx="2751252" cy="275125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07A3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57150"/>
              <a:ext cx="8128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684066" y="8624939"/>
            <a:ext cx="2751252" cy="275125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07A3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57150"/>
              <a:ext cx="8128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0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86350" y="1698388"/>
            <a:ext cx="8115300" cy="2170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201"/>
              </a:lnSpc>
            </a:pPr>
            <a:r>
              <a:rPr lang="en-US" sz="14201" i="1" spc="-852">
                <a:solidFill>
                  <a:srgbClr val="000000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conclution?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8076001" y="3503217"/>
            <a:ext cx="1607323" cy="0"/>
          </a:xfrm>
          <a:prstGeom prst="line">
            <a:avLst/>
          </a:prstGeom>
          <a:ln w="38100" cap="rnd">
            <a:solidFill>
              <a:srgbClr val="C07A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211830" y="4760088"/>
            <a:ext cx="11864340" cy="2111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304" lvl="1" indent="-334652" algn="l">
              <a:lnSpc>
                <a:spcPts val="3100"/>
              </a:lnSpc>
              <a:buFont typeface="Arial"/>
              <a:buChar char="•"/>
            </a:pPr>
            <a:r>
              <a:rPr lang="en-US" sz="3100" b="1" spc="-186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Glukosa adalah faktor penentu utama.</a:t>
            </a:r>
          </a:p>
          <a:p>
            <a:pPr algn="l">
              <a:lnSpc>
                <a:spcPts val="3100"/>
              </a:lnSpc>
            </a:pPr>
            <a:endParaRPr lang="en-US" sz="3100" b="1" spc="-186">
              <a:solidFill>
                <a:srgbClr val="C07A35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  <a:p>
            <a:pPr marL="669304" lvl="1" indent="-334652" algn="l">
              <a:lnSpc>
                <a:spcPts val="3100"/>
              </a:lnSpc>
              <a:buFont typeface="Arial"/>
              <a:buChar char="•"/>
            </a:pPr>
            <a:r>
              <a:rPr lang="en-US" sz="3100" b="1" spc="-186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Obesitas dan usia lanjut meningkatkan risiko secara signifikan.</a:t>
            </a:r>
          </a:p>
          <a:p>
            <a:pPr algn="l">
              <a:lnSpc>
                <a:spcPts val="3100"/>
              </a:lnSpc>
            </a:pPr>
            <a:endParaRPr lang="en-US" sz="3100" b="1" spc="-186">
              <a:solidFill>
                <a:srgbClr val="C07A35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  <a:p>
            <a:pPr marL="669304" lvl="1" indent="-334652" algn="l">
              <a:lnSpc>
                <a:spcPts val="3100"/>
              </a:lnSpc>
              <a:buFont typeface="Arial"/>
              <a:buChar char="•"/>
            </a:pPr>
            <a:r>
              <a:rPr lang="en-US" sz="3100" b="1" spc="-186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Pengendalian berat badan dan pemantauan gula darah secara rutin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46e50ac-242a-4d51-a958-3ecf06262b97}" enabled="1" method="Privileged" siteId="{9f3efc26-eea3-45e0-9a33-bdd96bbc7f6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</Words>
  <Application>Microsoft Office PowerPoint</Application>
  <PresentationFormat>Custom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Calibri</vt:lpstr>
      <vt:lpstr>Helvetica World</vt:lpstr>
      <vt:lpstr>Arial</vt:lpstr>
      <vt:lpstr>Times New Roman MT Condensed Italics</vt:lpstr>
      <vt:lpstr>League Spartan</vt:lpstr>
      <vt:lpstr>Helvetica World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- Diabetes Data Analisis - Pima Indians</dc:title>
  <cp:lastModifiedBy>Xavier Theofilus Munthe</cp:lastModifiedBy>
  <cp:revision>2</cp:revision>
  <dcterms:created xsi:type="dcterms:W3CDTF">2006-08-16T00:00:00Z</dcterms:created>
  <dcterms:modified xsi:type="dcterms:W3CDTF">2026-05-05T10:00:52Z</dcterms:modified>
  <dc:identifier>DAHIxBl58V8</dc:identifier>
</cp:coreProperties>
</file>